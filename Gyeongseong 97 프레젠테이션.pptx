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63" r:id="rId4"/>
    <p:sldId id="266" r:id="rId5"/>
    <p:sldId id="267" r:id="rId6"/>
    <p:sldId id="264" r:id="rId7"/>
    <p:sldId id="269" r:id="rId8"/>
    <p:sldId id="268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78" r:id="rId17"/>
    <p:sldId id="279" r:id="rId18"/>
    <p:sldId id="280" r:id="rId19"/>
    <p:sldId id="284" r:id="rId20"/>
    <p:sldId id="285" r:id="rId21"/>
    <p:sldId id="281" r:id="rId22"/>
    <p:sldId id="282" r:id="rId23"/>
    <p:sldId id="283" r:id="rId24"/>
    <p:sldId id="286" r:id="rId25"/>
    <p:sldId id="287" r:id="rId26"/>
    <p:sldId id="288" r:id="rId27"/>
    <p:sldId id="289" r:id="rId28"/>
    <p:sldId id="290" r:id="rId29"/>
    <p:sldId id="275" r:id="rId30"/>
    <p:sldId id="257" r:id="rId31"/>
    <p:sldId id="259" r:id="rId32"/>
    <p:sldId id="260" r:id="rId33"/>
    <p:sldId id="261" r:id="rId34"/>
    <p:sldId id="262" r:id="rId35"/>
  </p:sldIdLst>
  <p:sldSz cx="18288000" cy="10287000"/>
  <p:notesSz cx="6858000" cy="9144000"/>
  <p:embeddedFontLst>
    <p:embeddedFont>
      <p:font typeface="210 8비트" panose="020B0600000101010101" charset="-127"/>
      <p:regular r:id="rId37"/>
    </p:embeddedFont>
    <p:embeddedFont>
      <p:font typeface="210 8비트 Bold" panose="020B0600000101010101" charset="-127"/>
      <p:regular r:id="rId38"/>
    </p:embeddedFont>
    <p:embeddedFont>
      <p:font typeface="Arita Dotum Medium" panose="020B0600000101010101" charset="-127"/>
      <p:regular r:id="rId39"/>
    </p:embeddedFont>
    <p:embeddedFont>
      <p:font typeface="맑은 고딕" panose="020B0600000101010101" pitchFamily="50" charset="-127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6" y="3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4A1B4-5151-4103-A475-F08C7F60B07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643E6-5579-4677-97AA-185158BD35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065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643E6-5579-4677-97AA-185158BD35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7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dcjkezf1ARY?feature=oembed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sv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19.svg"/><Relationship Id="rId21" Type="http://schemas.openxmlformats.org/officeDocument/2006/relationships/image" Target="../media/image37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5" Type="http://schemas.openxmlformats.org/officeDocument/2006/relationships/image" Target="../media/image41.svg"/><Relationship Id="rId33" Type="http://schemas.openxmlformats.org/officeDocument/2006/relationships/image" Target="../media/image48.sv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24" Type="http://schemas.openxmlformats.org/officeDocument/2006/relationships/image" Target="../media/image40.png"/><Relationship Id="rId32" Type="http://schemas.openxmlformats.org/officeDocument/2006/relationships/image" Target="../media/image47.pn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23" Type="http://schemas.openxmlformats.org/officeDocument/2006/relationships/image" Target="../media/image39.svg"/><Relationship Id="rId28" Type="http://schemas.openxmlformats.org/officeDocument/2006/relationships/hyperlink" Target="https://docs.google.com/spreadsheets/d/1DUF2isFWsqVSYhbaACYtbgcLi_YjDqpE3GLQIVgkKQg/edit#gid=69851113" TargetMode="External"/><Relationship Id="rId10" Type="http://schemas.openxmlformats.org/officeDocument/2006/relationships/image" Target="../media/image26.png"/><Relationship Id="rId19" Type="http://schemas.openxmlformats.org/officeDocument/2006/relationships/image" Target="../media/image35.svg"/><Relationship Id="rId31" Type="http://schemas.openxmlformats.org/officeDocument/2006/relationships/image" Target="../media/image46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svg"/><Relationship Id="rId30" Type="http://schemas.openxmlformats.org/officeDocument/2006/relationships/image" Target="../media/image45.png"/><Relationship Id="rId8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4.png"/><Relationship Id="rId7" Type="http://schemas.openxmlformats.org/officeDocument/2006/relationships/image" Target="../media/image52.svg"/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sv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9" Type="http://schemas.openxmlformats.org/officeDocument/2006/relationships/image" Target="../media/image92.svg"/><Relationship Id="rId21" Type="http://schemas.openxmlformats.org/officeDocument/2006/relationships/image" Target="../media/image74.svg"/><Relationship Id="rId34" Type="http://schemas.openxmlformats.org/officeDocument/2006/relationships/image" Target="../media/image87.png"/><Relationship Id="rId42" Type="http://schemas.openxmlformats.org/officeDocument/2006/relationships/image" Target="../media/image93.png"/><Relationship Id="rId47" Type="http://schemas.openxmlformats.org/officeDocument/2006/relationships/image" Target="../media/image11.svg"/><Relationship Id="rId50" Type="http://schemas.openxmlformats.org/officeDocument/2006/relationships/image" Target="../media/image97.png"/><Relationship Id="rId55" Type="http://schemas.openxmlformats.org/officeDocument/2006/relationships/image" Target="../media/image102.svg"/><Relationship Id="rId7" Type="http://schemas.openxmlformats.org/officeDocument/2006/relationships/image" Target="../media/image60.svg"/><Relationship Id="rId2" Type="http://schemas.openxmlformats.org/officeDocument/2006/relationships/image" Target="../media/image1.png"/><Relationship Id="rId16" Type="http://schemas.openxmlformats.org/officeDocument/2006/relationships/image" Target="../media/image69.png"/><Relationship Id="rId29" Type="http://schemas.openxmlformats.org/officeDocument/2006/relationships/image" Target="../media/image82.svg"/><Relationship Id="rId11" Type="http://schemas.openxmlformats.org/officeDocument/2006/relationships/image" Target="../media/image64.sv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37" Type="http://schemas.openxmlformats.org/officeDocument/2006/relationships/image" Target="../media/image90.svg"/><Relationship Id="rId40" Type="http://schemas.openxmlformats.org/officeDocument/2006/relationships/image" Target="../media/image45.png"/><Relationship Id="rId45" Type="http://schemas.openxmlformats.org/officeDocument/2006/relationships/image" Target="../media/image96.svg"/><Relationship Id="rId53" Type="http://schemas.openxmlformats.org/officeDocument/2006/relationships/image" Target="../media/image100.svg"/><Relationship Id="rId58" Type="http://schemas.openxmlformats.org/officeDocument/2006/relationships/image" Target="../media/image5.png"/><Relationship Id="rId5" Type="http://schemas.openxmlformats.org/officeDocument/2006/relationships/image" Target="../media/image58.svg"/><Relationship Id="rId61" Type="http://schemas.openxmlformats.org/officeDocument/2006/relationships/image" Target="../media/image106.svg"/><Relationship Id="rId19" Type="http://schemas.openxmlformats.org/officeDocument/2006/relationships/image" Target="../media/image72.sv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svg"/><Relationship Id="rId30" Type="http://schemas.openxmlformats.org/officeDocument/2006/relationships/image" Target="../media/image83.png"/><Relationship Id="rId35" Type="http://schemas.openxmlformats.org/officeDocument/2006/relationships/image" Target="../media/image88.svg"/><Relationship Id="rId43" Type="http://schemas.openxmlformats.org/officeDocument/2006/relationships/image" Target="../media/image94.svg"/><Relationship Id="rId48" Type="http://schemas.openxmlformats.org/officeDocument/2006/relationships/image" Target="../media/image47.png"/><Relationship Id="rId56" Type="http://schemas.openxmlformats.org/officeDocument/2006/relationships/image" Target="../media/image103.png"/><Relationship Id="rId8" Type="http://schemas.openxmlformats.org/officeDocument/2006/relationships/image" Target="../media/image61.png"/><Relationship Id="rId51" Type="http://schemas.openxmlformats.org/officeDocument/2006/relationships/image" Target="../media/image98.svg"/><Relationship Id="rId3" Type="http://schemas.openxmlformats.org/officeDocument/2006/relationships/image" Target="../media/image2.svg"/><Relationship Id="rId12" Type="http://schemas.openxmlformats.org/officeDocument/2006/relationships/image" Target="../media/image65.png"/><Relationship Id="rId17" Type="http://schemas.openxmlformats.org/officeDocument/2006/relationships/image" Target="../media/image70.svg"/><Relationship Id="rId25" Type="http://schemas.openxmlformats.org/officeDocument/2006/relationships/image" Target="../media/image78.svg"/><Relationship Id="rId33" Type="http://schemas.openxmlformats.org/officeDocument/2006/relationships/image" Target="../media/image86.svg"/><Relationship Id="rId38" Type="http://schemas.openxmlformats.org/officeDocument/2006/relationships/image" Target="../media/image91.png"/><Relationship Id="rId46" Type="http://schemas.openxmlformats.org/officeDocument/2006/relationships/image" Target="../media/image10.png"/><Relationship Id="rId59" Type="http://schemas.openxmlformats.org/officeDocument/2006/relationships/image" Target="../media/image6.svg"/><Relationship Id="rId20" Type="http://schemas.openxmlformats.org/officeDocument/2006/relationships/image" Target="../media/image73.png"/><Relationship Id="rId41" Type="http://schemas.openxmlformats.org/officeDocument/2006/relationships/image" Target="../media/image46.svg"/><Relationship Id="rId54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5" Type="http://schemas.openxmlformats.org/officeDocument/2006/relationships/image" Target="../media/image68.svg"/><Relationship Id="rId23" Type="http://schemas.openxmlformats.org/officeDocument/2006/relationships/image" Target="../media/image76.svg"/><Relationship Id="rId28" Type="http://schemas.openxmlformats.org/officeDocument/2006/relationships/image" Target="../media/image81.png"/><Relationship Id="rId36" Type="http://schemas.openxmlformats.org/officeDocument/2006/relationships/image" Target="../media/image89.png"/><Relationship Id="rId49" Type="http://schemas.openxmlformats.org/officeDocument/2006/relationships/image" Target="../media/image48.svg"/><Relationship Id="rId57" Type="http://schemas.openxmlformats.org/officeDocument/2006/relationships/image" Target="../media/image104.svg"/><Relationship Id="rId10" Type="http://schemas.openxmlformats.org/officeDocument/2006/relationships/image" Target="../media/image63.png"/><Relationship Id="rId31" Type="http://schemas.openxmlformats.org/officeDocument/2006/relationships/image" Target="../media/image84.svg"/><Relationship Id="rId44" Type="http://schemas.openxmlformats.org/officeDocument/2006/relationships/image" Target="../media/image95.png"/><Relationship Id="rId52" Type="http://schemas.openxmlformats.org/officeDocument/2006/relationships/image" Target="../media/image99.png"/><Relationship Id="rId60" Type="http://schemas.openxmlformats.org/officeDocument/2006/relationships/image" Target="../media/image105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754106" y="3568125"/>
            <a:ext cx="12779788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39"/>
              </a:lnSpc>
            </a:pPr>
            <a:r>
              <a:rPr lang="en-US" sz="126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경성</a:t>
            </a:r>
            <a:r>
              <a:rPr lang="en-US" sz="126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 97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5380" y="1254660"/>
            <a:ext cx="283562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Time</a:t>
            </a:r>
            <a:r>
              <a:rPr lang="ko-KR" alt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altLang="ko-KR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:</a:t>
            </a:r>
            <a:r>
              <a:rPr lang="ko-KR" alt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altLang="ko-KR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11:21</a:t>
            </a:r>
            <a:endParaRPr lang="en-US" sz="3000" dirty="0">
              <a:solidFill>
                <a:srgbClr val="FFFFFF"/>
              </a:solidFill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80284" y="1247367"/>
            <a:ext cx="290631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u="none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Score: 1972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1DF443-5A0B-8131-552C-DC00800AA20E}"/>
              </a:ext>
            </a:extLst>
          </p:cNvPr>
          <p:cNvSpPr txBox="1"/>
          <p:nvPr/>
        </p:nvSpPr>
        <p:spPr>
          <a:xfrm>
            <a:off x="2819400" y="5829300"/>
            <a:ext cx="1264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 panose="020B0600000101010101" charset="-127"/>
                <a:ea typeface="210 8비트 Bold" panose="020B0600000101010101" charset="-127"/>
              </a:rPr>
              <a:t>WinAPI</a:t>
            </a:r>
            <a:r>
              <a:rPr lang="en-US" altLang="ko-K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 panose="020B0600000101010101" charset="-127"/>
                <a:ea typeface="210 8비트 Bold" panose="020B0600000101010101" charset="-127"/>
              </a:rPr>
              <a:t> + FTXUI + </a:t>
            </a:r>
            <a:r>
              <a:rPr lang="en-US" altLang="ko-KR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 panose="020B0600000101010101" charset="-127"/>
                <a:ea typeface="210 8비트 Bold" panose="020B0600000101010101" charset="-127"/>
              </a:rPr>
              <a:t>miniaudio</a:t>
            </a:r>
            <a:r>
              <a:rPr lang="en-US" altLang="ko-K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 panose="020B0600000101010101" charset="-127"/>
                <a:ea typeface="210 8비트 Bold" panose="020B0600000101010101" charset="-127"/>
              </a:rPr>
              <a:t> C++ Terminal Shooting Game</a:t>
            </a:r>
            <a:endParaRPr lang="ko-KR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 Bold" panose="020B0600000101010101" charset="-127"/>
              <a:ea typeface="210 8비트 Bold" panose="020B0600000101010101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84524" y="685547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7481777" y="489436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5247859" y="890871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959730" y="340197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11590067" y="703026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17564613" y="2704181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13616103" y="375156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16751985" y="7693985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/>
          <p:nvPr/>
        </p:nvSpPr>
        <p:spPr>
          <a:xfrm>
            <a:off x="14262763" y="8986278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345820" y="1914525"/>
            <a:ext cx="231178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1121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59939" y="1914525"/>
            <a:ext cx="290631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최고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1972</a:t>
            </a:r>
          </a:p>
        </p:txBody>
      </p:sp>
      <p:sp>
        <p:nvSpPr>
          <p:cNvPr id="22" name="Freeform 22"/>
          <p:cNvSpPr/>
          <p:nvPr/>
        </p:nvSpPr>
        <p:spPr>
          <a:xfrm>
            <a:off x="13809148" y="1028700"/>
            <a:ext cx="3328927" cy="605259"/>
          </a:xfrm>
          <a:custGeom>
            <a:avLst/>
            <a:gdLst/>
            <a:ahLst/>
            <a:cxnLst/>
            <a:rect l="l" t="t" r="r" b="b"/>
            <a:pathLst>
              <a:path w="3328927" h="605259">
                <a:moveTo>
                  <a:pt x="0" y="0"/>
                </a:moveTo>
                <a:lnTo>
                  <a:pt x="3328927" y="0"/>
                </a:lnTo>
                <a:lnTo>
                  <a:pt x="3328927" y="605259"/>
                </a:lnTo>
                <a:lnTo>
                  <a:pt x="0" y="605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345820" y="1028700"/>
            <a:ext cx="2809577" cy="730490"/>
            <a:chOff x="0" y="0"/>
            <a:chExt cx="3746102" cy="97398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2487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0" y="0"/>
                  </a:lnTo>
                  <a:lnTo>
                    <a:pt x="1248700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4974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00347" y="4406118"/>
            <a:ext cx="13087306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ko-KR" altLang="en-US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무엇을 만들 것인가</a:t>
            </a:r>
            <a:r>
              <a:rPr lang="en-US" altLang="ko-KR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?</a:t>
            </a:r>
            <a:endParaRPr lang="en-US" sz="9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 Bold"/>
              <a:ea typeface="210 8비트 Bold"/>
              <a:cs typeface="210 8비트 Bold"/>
              <a:sym typeface="210 8비트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9863B-C204-CC5A-F7F6-7CB1AAA6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F4A9AE-70D8-FE89-C5C3-DB1353F6FA8E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E3B00B-11DB-9E35-6AA3-0350EBBDCE6A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3C13F0A6-3D08-AD6D-2359-1A9D8B8EA311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무슨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게임을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…?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68689F6-A741-5209-1E58-4333AB93DFB0}"/>
              </a:ext>
            </a:extLst>
          </p:cNvPr>
          <p:cNvSpPr txBox="1"/>
          <p:nvPr/>
        </p:nvSpPr>
        <p:spPr>
          <a:xfrm>
            <a:off x="1028700" y="4229100"/>
            <a:ext cx="7965273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개똥겜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홍콩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97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의 패러디 게임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근데 거기에 야인시대 패러디를 같이 끼얹음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???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대유쾌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마운틴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!</a:t>
            </a:r>
          </a:p>
          <a:p>
            <a:pPr algn="l">
              <a:lnSpc>
                <a:spcPts val="3120"/>
              </a:lnSpc>
            </a:pPr>
            <a:endParaRPr lang="en-US" sz="2800" dirty="0">
              <a:solidFill>
                <a:srgbClr val="FFFFFF"/>
              </a:solidFill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CF7AC34-D770-CE4C-AABC-19F5E1EFFFCF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5BEB8C-64C0-F5ED-80C1-E01E22F8902D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78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E8E35-AD06-D4C6-9E1E-F3C2CDB8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D0F258-C083-9BE7-8915-66FB1C016ABE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4B9B977-D8D3-8A91-6F55-71B385B8652D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3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F4F00D5D-4DEA-84A1-6F1E-DCCE7201703A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개발 목표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6B75DF2-87D9-C32A-9B01-BAF6116C8F37}"/>
              </a:ext>
            </a:extLst>
          </p:cNvPr>
          <p:cNvSpPr txBox="1"/>
          <p:nvPr/>
        </p:nvSpPr>
        <p:spPr>
          <a:xfrm>
            <a:off x="1028700" y="4229100"/>
            <a:ext cx="7965273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콘솔 환경에서 동작하는 슈팅 게임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하지만 가능한 한 화려하게 보여야 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당연히 소리 출력도 가능해야 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게임이니 실시간 입력도 가능해야 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한줄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요약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: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네이티브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C++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만으로는 무리임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5BADB73-9FA9-D803-523D-C0CDD7E26C57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39BA31F-0591-182C-28F7-0538EAA5030C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37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0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6BED8-3CF4-54BA-3AF7-3BE9A838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87C0A66C-598C-3BD3-3CBF-C3DA03E40EB1}"/>
              </a:ext>
            </a:extLst>
          </p:cNvPr>
          <p:cNvSpPr/>
          <p:nvPr/>
        </p:nvSpPr>
        <p:spPr>
          <a:xfrm>
            <a:off x="1684524" y="685547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6EA6568-3DE1-8807-5F3E-A1206CD3082C}"/>
              </a:ext>
            </a:extLst>
          </p:cNvPr>
          <p:cNvSpPr/>
          <p:nvPr/>
        </p:nvSpPr>
        <p:spPr>
          <a:xfrm>
            <a:off x="7481777" y="489436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88992C4-32D0-8763-3177-CB40FAA61CE9}"/>
              </a:ext>
            </a:extLst>
          </p:cNvPr>
          <p:cNvSpPr/>
          <p:nvPr/>
        </p:nvSpPr>
        <p:spPr>
          <a:xfrm>
            <a:off x="5247859" y="890871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154A59F-0FB6-8AF4-332D-F2F53F4A31A8}"/>
              </a:ext>
            </a:extLst>
          </p:cNvPr>
          <p:cNvSpPr/>
          <p:nvPr/>
        </p:nvSpPr>
        <p:spPr>
          <a:xfrm>
            <a:off x="959730" y="340197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3D73586-113A-0478-17EA-6AF255A3C08F}"/>
              </a:ext>
            </a:extLst>
          </p:cNvPr>
          <p:cNvSpPr/>
          <p:nvPr/>
        </p:nvSpPr>
        <p:spPr>
          <a:xfrm>
            <a:off x="11590067" y="703026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D2C0816-8DA4-0ABC-1201-8B68DB4A38EA}"/>
              </a:ext>
            </a:extLst>
          </p:cNvPr>
          <p:cNvSpPr/>
          <p:nvPr/>
        </p:nvSpPr>
        <p:spPr>
          <a:xfrm>
            <a:off x="17564613" y="2704181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F6B20FC-3711-4281-392A-959612524E09}"/>
              </a:ext>
            </a:extLst>
          </p:cNvPr>
          <p:cNvSpPr/>
          <p:nvPr/>
        </p:nvSpPr>
        <p:spPr>
          <a:xfrm>
            <a:off x="13616103" y="375156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6D8A8686-B638-DD6D-8FCF-306140146ABE}"/>
              </a:ext>
            </a:extLst>
          </p:cNvPr>
          <p:cNvSpPr/>
          <p:nvPr/>
        </p:nvSpPr>
        <p:spPr>
          <a:xfrm>
            <a:off x="16751985" y="7693985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EF01B993-268C-0D0F-0374-CC352E56DD64}"/>
              </a:ext>
            </a:extLst>
          </p:cNvPr>
          <p:cNvSpPr/>
          <p:nvPr/>
        </p:nvSpPr>
        <p:spPr>
          <a:xfrm>
            <a:off x="14262763" y="8986278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6B814D7-C192-B5DF-888C-6D67CCB26831}"/>
              </a:ext>
            </a:extLst>
          </p:cNvPr>
          <p:cNvSpPr txBox="1"/>
          <p:nvPr/>
        </p:nvSpPr>
        <p:spPr>
          <a:xfrm>
            <a:off x="1345820" y="1914525"/>
            <a:ext cx="231178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1121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B0AB92B-406D-B0D8-8952-7A42F0309FE9}"/>
              </a:ext>
            </a:extLst>
          </p:cNvPr>
          <p:cNvSpPr txBox="1"/>
          <p:nvPr/>
        </p:nvSpPr>
        <p:spPr>
          <a:xfrm>
            <a:off x="14159939" y="1914525"/>
            <a:ext cx="290631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최고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1972</a:t>
            </a: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4E332315-6530-704F-2341-73CB2B9CDB7D}"/>
              </a:ext>
            </a:extLst>
          </p:cNvPr>
          <p:cNvSpPr/>
          <p:nvPr/>
        </p:nvSpPr>
        <p:spPr>
          <a:xfrm>
            <a:off x="13809148" y="1028700"/>
            <a:ext cx="3328927" cy="605259"/>
          </a:xfrm>
          <a:custGeom>
            <a:avLst/>
            <a:gdLst/>
            <a:ahLst/>
            <a:cxnLst/>
            <a:rect l="l" t="t" r="r" b="b"/>
            <a:pathLst>
              <a:path w="3328927" h="605259">
                <a:moveTo>
                  <a:pt x="0" y="0"/>
                </a:moveTo>
                <a:lnTo>
                  <a:pt x="3328927" y="0"/>
                </a:lnTo>
                <a:lnTo>
                  <a:pt x="3328927" y="605259"/>
                </a:lnTo>
                <a:lnTo>
                  <a:pt x="0" y="605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5A917CD9-4693-4F7B-3BFF-335C29D6326D}"/>
              </a:ext>
            </a:extLst>
          </p:cNvPr>
          <p:cNvGrpSpPr/>
          <p:nvPr/>
        </p:nvGrpSpPr>
        <p:grpSpPr>
          <a:xfrm>
            <a:off x="1345820" y="1028700"/>
            <a:ext cx="2809577" cy="730490"/>
            <a:chOff x="0" y="0"/>
            <a:chExt cx="3746102" cy="973987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BCC167B-61CB-DFC1-93EF-A5E282243463}"/>
                </a:ext>
              </a:extLst>
            </p:cNvPr>
            <p:cNvSpPr/>
            <p:nvPr/>
          </p:nvSpPr>
          <p:spPr>
            <a:xfrm>
              <a:off x="0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69876563-7A1A-81F3-2B22-37249D3A66DE}"/>
                </a:ext>
              </a:extLst>
            </p:cNvPr>
            <p:cNvSpPr/>
            <p:nvPr/>
          </p:nvSpPr>
          <p:spPr>
            <a:xfrm>
              <a:off x="12487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0" y="0"/>
                  </a:lnTo>
                  <a:lnTo>
                    <a:pt x="1248700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0AA7EF2-1EFE-A296-BB5F-270A1D87B3C3}"/>
                </a:ext>
              </a:extLst>
            </p:cNvPr>
            <p:cNvSpPr/>
            <p:nvPr/>
          </p:nvSpPr>
          <p:spPr>
            <a:xfrm>
              <a:off x="24974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46C28A61-F077-08C3-EC3B-64F5E8F81750}"/>
              </a:ext>
            </a:extLst>
          </p:cNvPr>
          <p:cNvSpPr txBox="1"/>
          <p:nvPr/>
        </p:nvSpPr>
        <p:spPr>
          <a:xfrm>
            <a:off x="2600347" y="4406118"/>
            <a:ext cx="13087306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ko-KR" altLang="en-US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라이브러리를 찾아라</a:t>
            </a:r>
            <a:r>
              <a:rPr lang="en-US" altLang="ko-KR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!</a:t>
            </a:r>
            <a:endParaRPr lang="en-US" sz="9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 Bold"/>
              <a:ea typeface="210 8비트 Bold"/>
              <a:cs typeface="210 8비트 Bold"/>
              <a:sym typeface="210 8비트 Bold"/>
            </a:endParaRPr>
          </a:p>
        </p:txBody>
      </p:sp>
    </p:spTree>
    <p:extLst>
      <p:ext uri="{BB962C8B-B14F-4D97-AF65-F5344CB8AC3E}">
        <p14:creationId xmlns:p14="http://schemas.microsoft.com/office/powerpoint/2010/main" val="77559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3543A-92F3-A39C-4934-1419FE78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9278656-C520-9673-0933-7770D25D431F}"/>
              </a:ext>
            </a:extLst>
          </p:cNvPr>
          <p:cNvSpPr txBox="1"/>
          <p:nvPr/>
        </p:nvSpPr>
        <p:spPr>
          <a:xfrm>
            <a:off x="1028700" y="2802137"/>
            <a:ext cx="9563100" cy="937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TermGL</a:t>
            </a:r>
            <a:r>
              <a:rPr 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D96A500-79DE-055B-3153-1D013A4301DA}"/>
              </a:ext>
            </a:extLst>
          </p:cNvPr>
          <p:cNvSpPr txBox="1"/>
          <p:nvPr/>
        </p:nvSpPr>
        <p:spPr>
          <a:xfrm>
            <a:off x="1028700" y="4229100"/>
            <a:ext cx="7965273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C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기반 터미널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2D / 3D(!)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그래픽 라이브러리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실시간 키보드 입력 처리도 가능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화면에 뜰 그래픽 요소를 하나하나 직접 그려줘야 함 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ASCII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문자로만 출력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생각보다 화려하지 않음</a:t>
            </a:r>
            <a:endParaRPr lang="en-US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1E4FAB2-6DF2-E700-89A3-9CB6A55CD09D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림 10" descr="건물, 스카이라인, 타워 블록, 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3041EF-DFF3-5044-C52F-525986E9A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48" y="2597944"/>
            <a:ext cx="7320852" cy="509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1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B7768-8BC3-16BE-3CDA-F5B211D4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005C4B3-A414-B0C0-01A5-DA705DAC8D76}"/>
              </a:ext>
            </a:extLst>
          </p:cNvPr>
          <p:cNvSpPr txBox="1"/>
          <p:nvPr/>
        </p:nvSpPr>
        <p:spPr>
          <a:xfrm>
            <a:off x="1028700" y="2802137"/>
            <a:ext cx="9563100" cy="937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Notcurses</a:t>
            </a:r>
            <a:r>
              <a:rPr 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E3F962C-C393-7349-14AD-92D726D8DDD7}"/>
              </a:ext>
            </a:extLst>
          </p:cNvPr>
          <p:cNvSpPr txBox="1"/>
          <p:nvPr/>
        </p:nvSpPr>
        <p:spPr>
          <a:xfrm>
            <a:off x="1028700" y="4229100"/>
            <a:ext cx="7965273" cy="397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C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기반 라이브러리지만 여러 언어의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Wrapper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제공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(C++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포함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)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터미널 상에서 동영상을 재생할 수 있을 정도로 매우 강력한 수준의 그래픽 기능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“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매우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”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강력한 성능의 터미널 에뮬레이터가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반쯤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필수임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그렇다면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Windows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환경에선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어음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…</a:t>
            </a:r>
            <a:endParaRPr lang="en-US" sz="2800" dirty="0">
              <a:solidFill>
                <a:srgbClr val="FFFFFF"/>
              </a:solidFill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969D640-8302-7ECD-8149-02B88FACAD31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" name="온라인 미디어 9" title="NOTCURSES III: THE SAGA CONTINUES (1080P)">
            <a:hlinkClick r:id="" action="ppaction://media"/>
            <a:extLst>
              <a:ext uri="{FF2B5EF4-FFF2-40B4-BE49-F238E27FC236}">
                <a16:creationId xmlns:a16="http://schemas.microsoft.com/office/drawing/2014/main" id="{D7338006-3A00-E9EF-816A-F98AE773CDD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9372600" y="2781300"/>
            <a:ext cx="836177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6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755B4-E250-F9F9-E77B-14119FC5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ED62B83-4164-A105-72E3-D24748B18082}"/>
              </a:ext>
            </a:extLst>
          </p:cNvPr>
          <p:cNvSpPr txBox="1"/>
          <p:nvPr/>
        </p:nvSpPr>
        <p:spPr>
          <a:xfrm>
            <a:off x="1028700" y="2802137"/>
            <a:ext cx="9563100" cy="937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FTXUI!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BB7EC-E85E-49EC-9CF9-12431532D5D7}"/>
              </a:ext>
            </a:extLst>
          </p:cNvPr>
          <p:cNvSpPr txBox="1"/>
          <p:nvPr/>
        </p:nvSpPr>
        <p:spPr>
          <a:xfrm>
            <a:off x="1028700" y="4229100"/>
            <a:ext cx="7965273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모던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C++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기반 라이브러리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(C++17)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대부분의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UI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요소를 매우 편리하게 그릴 수 있고 나름 강력한 그래픽 기능도 제공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Windows +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VisualStudio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환경에서도 쓰기 편리함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너로 정했다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!!!!!!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A4D6A12-1ED1-FD49-9FE6-24E1A757DB3C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 descr="스크린샷, 텍스트, 그래픽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21CF57-D280-FFDB-F7C7-5B3508F52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3152775"/>
            <a:ext cx="79248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1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A16EF-C6DE-C237-473A-7FC83471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E41779C-A186-9417-6E7D-D9AA5E0B1CA0}"/>
              </a:ext>
            </a:extLst>
          </p:cNvPr>
          <p:cNvSpPr/>
          <p:nvPr/>
        </p:nvSpPr>
        <p:spPr>
          <a:xfrm>
            <a:off x="9372600" y="4196555"/>
            <a:ext cx="8254544" cy="1893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580A2FB-B38E-662F-057F-AC41221FBB72}"/>
              </a:ext>
            </a:extLst>
          </p:cNvPr>
          <p:cNvSpPr txBox="1"/>
          <p:nvPr/>
        </p:nvSpPr>
        <p:spPr>
          <a:xfrm>
            <a:off x="1028700" y="2802137"/>
            <a:ext cx="9563100" cy="937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사운드는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51AED9A-1F88-2AB8-3AC4-14068F09FE80}"/>
              </a:ext>
            </a:extLst>
          </p:cNvPr>
          <p:cNvSpPr txBox="1"/>
          <p:nvPr/>
        </p:nvSpPr>
        <p:spPr>
          <a:xfrm>
            <a:off x="1028700" y="4229100"/>
            <a:ext cx="7965273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FMOD?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상용 게임 만들려고요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SDL?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이거 쓸 거였으면 진작에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SFML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썼지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결론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: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miniaudio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나 쓰자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싱글 헤더 라이브러리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&lt;-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편리하게 쓸 수 있음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160CED-FF51-18A5-6375-503C60F73FAC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4291B6-792E-F3D6-7F60-D13D2FD89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427" y="4699054"/>
            <a:ext cx="7288889" cy="88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9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459D0-1F22-F853-02FA-9DDFD8B6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58D82F-38DF-2617-D743-6091A26FFA8F}"/>
              </a:ext>
            </a:extLst>
          </p:cNvPr>
          <p:cNvSpPr/>
          <p:nvPr/>
        </p:nvSpPr>
        <p:spPr>
          <a:xfrm>
            <a:off x="9525000" y="4196554"/>
            <a:ext cx="7965273" cy="1893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74A0BA2-4E19-BEE4-BA97-1418359E9152}"/>
              </a:ext>
            </a:extLst>
          </p:cNvPr>
          <p:cNvSpPr txBox="1"/>
          <p:nvPr/>
        </p:nvSpPr>
        <p:spPr>
          <a:xfrm>
            <a:off x="1028700" y="2802137"/>
            <a:ext cx="9563100" cy="937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입력은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85568E6-E698-2250-0182-28B08BBB7080}"/>
              </a:ext>
            </a:extLst>
          </p:cNvPr>
          <p:cNvSpPr txBox="1"/>
          <p:nvPr/>
        </p:nvSpPr>
        <p:spPr>
          <a:xfrm>
            <a:off x="1028700" y="4229100"/>
            <a:ext cx="7965273" cy="198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WinAPI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로 때우자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추가 라이브러리를 더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때려박을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필요가 없음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윈도우 환경에서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만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)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아주 잘 동작함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FA5735-0895-7C10-C4C9-1A9E0689FD0E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B2F8709B-3D5D-FDFA-A1D1-0A493FF6E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3355" y="4496583"/>
            <a:ext cx="7031694" cy="129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4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5B42F-539B-2939-21FC-1A13DD22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8605EF-EE7C-D932-A9B6-779DB37E59E5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5800F9-8D86-13B6-5589-B74BAE2BC54F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64B23A2B-97F0-4B8C-ED78-A6D628C782A8}"/>
              </a:ext>
            </a:extLst>
          </p:cNvPr>
          <p:cNvSpPr txBox="1"/>
          <p:nvPr/>
        </p:nvSpPr>
        <p:spPr>
          <a:xfrm>
            <a:off x="1028700" y="2802137"/>
            <a:ext cx="9563100" cy="937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왜 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SFML </a:t>
            </a: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안 씀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D5E21D3-3BD1-06D8-D757-A2895CE4339D}"/>
              </a:ext>
            </a:extLst>
          </p:cNvPr>
          <p:cNvSpPr txBox="1"/>
          <p:nvPr/>
        </p:nvSpPr>
        <p:spPr>
          <a:xfrm>
            <a:off x="1028700" y="4229100"/>
            <a:ext cx="7965273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SFML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라이브러리는 그래픽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사운드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입력 등 모든 기능을 다 제공함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모던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C++,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크로스플랫폼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근데 이 프로젝트는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“TUI”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 프로젝트인데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배보다 배꼽이 더 커진다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4482539-36CD-5A66-A52D-2F44F50DC5E8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6EE5F41-CAC6-AE85-53AC-9822DEE462C2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435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0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723C4-BD91-CEF4-F0CD-341C26C4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F891806C-BB32-148F-0B03-46BD6C490ED6}"/>
              </a:ext>
            </a:extLst>
          </p:cNvPr>
          <p:cNvSpPr/>
          <p:nvPr/>
        </p:nvSpPr>
        <p:spPr>
          <a:xfrm>
            <a:off x="1684524" y="685547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01F99D5-5781-4695-4459-7D7BBF887368}"/>
              </a:ext>
            </a:extLst>
          </p:cNvPr>
          <p:cNvSpPr/>
          <p:nvPr/>
        </p:nvSpPr>
        <p:spPr>
          <a:xfrm>
            <a:off x="7481777" y="489436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E9ECB31-CEB3-DDE4-9168-A86059FD5AAF}"/>
              </a:ext>
            </a:extLst>
          </p:cNvPr>
          <p:cNvSpPr/>
          <p:nvPr/>
        </p:nvSpPr>
        <p:spPr>
          <a:xfrm>
            <a:off x="5247859" y="890871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26C8651-063D-C6B9-2AD4-133C45148AE0}"/>
              </a:ext>
            </a:extLst>
          </p:cNvPr>
          <p:cNvSpPr/>
          <p:nvPr/>
        </p:nvSpPr>
        <p:spPr>
          <a:xfrm>
            <a:off x="959730" y="340197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40764E2-5508-2E3C-5860-D47197616E3A}"/>
              </a:ext>
            </a:extLst>
          </p:cNvPr>
          <p:cNvSpPr/>
          <p:nvPr/>
        </p:nvSpPr>
        <p:spPr>
          <a:xfrm>
            <a:off x="11590067" y="703026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765CEA81-C794-9397-7422-0FD2F46CE508}"/>
              </a:ext>
            </a:extLst>
          </p:cNvPr>
          <p:cNvSpPr/>
          <p:nvPr/>
        </p:nvSpPr>
        <p:spPr>
          <a:xfrm>
            <a:off x="17564613" y="2704181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9AF6370-A42C-9BE4-9226-C82D3B2A6329}"/>
              </a:ext>
            </a:extLst>
          </p:cNvPr>
          <p:cNvSpPr/>
          <p:nvPr/>
        </p:nvSpPr>
        <p:spPr>
          <a:xfrm>
            <a:off x="13616103" y="375156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BD8894A-1D35-6E45-1DDA-E1B8EFDC69A3}"/>
              </a:ext>
            </a:extLst>
          </p:cNvPr>
          <p:cNvSpPr/>
          <p:nvPr/>
        </p:nvSpPr>
        <p:spPr>
          <a:xfrm>
            <a:off x="16751985" y="7693985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DEF394F2-2876-4C4E-6E39-35FCAB0B1130}"/>
              </a:ext>
            </a:extLst>
          </p:cNvPr>
          <p:cNvSpPr/>
          <p:nvPr/>
        </p:nvSpPr>
        <p:spPr>
          <a:xfrm>
            <a:off x="14262763" y="8986278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371519D-6090-FBCE-8EE3-0C7E016AF859}"/>
              </a:ext>
            </a:extLst>
          </p:cNvPr>
          <p:cNvSpPr txBox="1"/>
          <p:nvPr/>
        </p:nvSpPr>
        <p:spPr>
          <a:xfrm>
            <a:off x="1345820" y="1914525"/>
            <a:ext cx="231178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1121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E73FE70-4F1E-386D-4A7F-CA568176AFC1}"/>
              </a:ext>
            </a:extLst>
          </p:cNvPr>
          <p:cNvSpPr txBox="1"/>
          <p:nvPr/>
        </p:nvSpPr>
        <p:spPr>
          <a:xfrm>
            <a:off x="14159939" y="1914525"/>
            <a:ext cx="290631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최고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1972</a:t>
            </a: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218443C6-A76C-0512-6FE0-339F1561B6E5}"/>
              </a:ext>
            </a:extLst>
          </p:cNvPr>
          <p:cNvSpPr/>
          <p:nvPr/>
        </p:nvSpPr>
        <p:spPr>
          <a:xfrm>
            <a:off x="13809148" y="1028700"/>
            <a:ext cx="3328927" cy="605259"/>
          </a:xfrm>
          <a:custGeom>
            <a:avLst/>
            <a:gdLst/>
            <a:ahLst/>
            <a:cxnLst/>
            <a:rect l="l" t="t" r="r" b="b"/>
            <a:pathLst>
              <a:path w="3328927" h="605259">
                <a:moveTo>
                  <a:pt x="0" y="0"/>
                </a:moveTo>
                <a:lnTo>
                  <a:pt x="3328927" y="0"/>
                </a:lnTo>
                <a:lnTo>
                  <a:pt x="3328927" y="605259"/>
                </a:lnTo>
                <a:lnTo>
                  <a:pt x="0" y="605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17777B-E597-9CED-7EEC-0C65762F49AD}"/>
              </a:ext>
            </a:extLst>
          </p:cNvPr>
          <p:cNvGrpSpPr/>
          <p:nvPr/>
        </p:nvGrpSpPr>
        <p:grpSpPr>
          <a:xfrm>
            <a:off x="1345820" y="1028700"/>
            <a:ext cx="2809577" cy="730490"/>
            <a:chOff x="0" y="0"/>
            <a:chExt cx="3746102" cy="973987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0BAD9B-329E-7F3D-D6F8-2182B49233FE}"/>
                </a:ext>
              </a:extLst>
            </p:cNvPr>
            <p:cNvSpPr/>
            <p:nvPr/>
          </p:nvSpPr>
          <p:spPr>
            <a:xfrm>
              <a:off x="0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913F1D1-05FE-5514-2577-9C3572FDB652}"/>
                </a:ext>
              </a:extLst>
            </p:cNvPr>
            <p:cNvSpPr/>
            <p:nvPr/>
          </p:nvSpPr>
          <p:spPr>
            <a:xfrm>
              <a:off x="12487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0" y="0"/>
                  </a:lnTo>
                  <a:lnTo>
                    <a:pt x="1248700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306263B-AB61-09D4-A431-18E116CA31A6}"/>
                </a:ext>
              </a:extLst>
            </p:cNvPr>
            <p:cNvSpPr/>
            <p:nvPr/>
          </p:nvSpPr>
          <p:spPr>
            <a:xfrm>
              <a:off x="24974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DBCF72B9-7DCF-71EB-4165-1BB13434EB8D}"/>
              </a:ext>
            </a:extLst>
          </p:cNvPr>
          <p:cNvSpPr txBox="1"/>
          <p:nvPr/>
        </p:nvSpPr>
        <p:spPr>
          <a:xfrm>
            <a:off x="2600347" y="4406118"/>
            <a:ext cx="13087306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ko-KR" altLang="en-US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어떻게 만들 것인가</a:t>
            </a:r>
            <a:r>
              <a:rPr lang="en-US" altLang="ko-KR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?</a:t>
            </a:r>
            <a:endParaRPr lang="en-US" sz="9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 Bold"/>
              <a:ea typeface="210 8비트 Bold"/>
              <a:cs typeface="210 8비트 Bold"/>
              <a:sym typeface="210 8비트 Bold"/>
            </a:endParaRPr>
          </a:p>
        </p:txBody>
      </p:sp>
    </p:spTree>
    <p:extLst>
      <p:ext uri="{BB962C8B-B14F-4D97-AF65-F5344CB8AC3E}">
        <p14:creationId xmlns:p14="http://schemas.microsoft.com/office/powerpoint/2010/main" val="249316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77A07-2CAA-2469-1F4F-ECD37A3D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7AD2FA-B7FB-99C2-0FE9-1A8E786BDBCA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57D26A6-5A19-F090-8578-3E3DA125F31E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C4FAA53-9604-C454-C29B-ED94069BB184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기본 설계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9585F9A-E4DD-3B5E-41A0-4E982A199F58}"/>
              </a:ext>
            </a:extLst>
          </p:cNvPr>
          <p:cNvSpPr txBox="1"/>
          <p:nvPr/>
        </p:nvSpPr>
        <p:spPr>
          <a:xfrm>
            <a:off x="1028700" y="4229100"/>
            <a:ext cx="7965273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게임의 대략의 설계는 있어도 최종적으로 얼마나 고도화된 설계가 요구될 지는 아무도 모름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과도하게 설계를 고도화 하면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결과물 대비 투입 공수가 너무 커짐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과도하게 설계를 대충하면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기술 부채 쌓여서 프로젝트 망함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90475E1-638C-43CF-F753-D2EFFABA749E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9A4419-E056-F345-8399-B5C323C07D1E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88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A9C7A-68BA-F74E-38F3-671DA4A4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CF2427-39E9-3011-BD95-A4AD382F7049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99929FC-6944-501A-E5B5-00575DB207C9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31EFA4F6-75A7-7ED1-2F89-479815322E21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기본 설계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15C5DA-4BED-5EDB-2CFA-A78B3B5E5612}"/>
              </a:ext>
            </a:extLst>
          </p:cNvPr>
          <p:cNvSpPr txBox="1"/>
          <p:nvPr/>
        </p:nvSpPr>
        <p:spPr>
          <a:xfrm>
            <a:off x="1028700" y="4229100"/>
            <a:ext cx="7965273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아무튼 게임이므로 매 프레임마다 갱신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(Update)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되어야 할 오브젝트가 매우 많을 것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모든 오브젝트들의 부모가 될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GameObject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클래스와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그 오브젝트들을 관리해줄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GameManager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클래스를 만드는 걸로 시작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13EB214-A668-DD4C-E359-54C3B89A1600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0155C01-7751-C8B2-661B-9AE465555FF1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709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DA321-1652-6B2F-E4F3-BE4012277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7FA5BB-1034-F3ED-4B66-92FF9C713069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9C7353D-91D1-39BE-03E9-8B103188DE37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65C8751B-4726-7E1F-BF4A-B9FECBE06AD5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설계 확장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063BF5-FA78-F1E5-AAAE-9E707375D242}"/>
              </a:ext>
            </a:extLst>
          </p:cNvPr>
          <p:cNvSpPr txBox="1"/>
          <p:nvPr/>
        </p:nvSpPr>
        <p:spPr>
          <a:xfrm>
            <a:off x="1028700" y="4229100"/>
            <a:ext cx="7965273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GameObject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로 부터 파생 클래스 대량 생산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Player, Enemy, Bullet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등등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…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실시간으로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Update()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되어야 할 모든 걸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GameObject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로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만듬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525578D-D455-44CA-7023-ACE3C729F23B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1CC2293-D97F-8F3F-64D9-4FF35CCF06D3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310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26202-9007-CD51-7230-9C186B6A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3D71C5-3CC7-58B9-CB67-2B77008793E0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0E780F-47F6-A514-75E5-A75C8A2D3EC7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3D816730-1E43-329C-9C3A-2C73A7EC4C50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설계 확장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E186E0F-944B-37AC-E843-1790B5A584A1}"/>
              </a:ext>
            </a:extLst>
          </p:cNvPr>
          <p:cNvSpPr txBox="1"/>
          <p:nvPr/>
        </p:nvSpPr>
        <p:spPr>
          <a:xfrm>
            <a:off x="1028700" y="4229100"/>
            <a:ext cx="7965273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사운드 출력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그래픽 출력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파일 입력 등등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…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 동작에 필요한 기능들을 제공하는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Manager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클래스들을 제작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Manager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는 아니지만 여러 곳에서 쓰이는 유용한 기능을 제공하는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Utility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클래스도 제작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DCFFDA8-BBDF-5442-B4C1-C8EA46886C3A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B721EB5-6587-3459-C910-F45ED1EF4F2D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248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CC95F-B859-2BA1-C620-97ED51D9F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9467FE-61D4-9B5A-3075-9F614086A957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A34ADD-4819-9680-CD6A-38B0E3FB2106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F68889A9-A2CC-407A-547C-75B709CC8DAD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마무리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C1ABCF-03CA-21E6-E37E-36BFF1030139}"/>
              </a:ext>
            </a:extLst>
          </p:cNvPr>
          <p:cNvSpPr txBox="1"/>
          <p:nvPr/>
        </p:nvSpPr>
        <p:spPr>
          <a:xfrm>
            <a:off x="1028700" y="4229100"/>
            <a:ext cx="7965273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기본 설계가 마무리 되었으면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만든 코드를 기반으로 컨텐츠 추가하면 끝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Enemy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파생 클래스 대량 생산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Boss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도 만들어주면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 플로우 완성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!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71B3F08-2687-32D3-3A01-63409980AAB9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F729C89-3BA8-287D-7B8B-DA6C1F303F3B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92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0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20D94-2073-FBEE-5AC4-532F0CDF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31F0FF8E-25D7-7FE9-9062-3FC0A1D058F4}"/>
              </a:ext>
            </a:extLst>
          </p:cNvPr>
          <p:cNvSpPr/>
          <p:nvPr/>
        </p:nvSpPr>
        <p:spPr>
          <a:xfrm>
            <a:off x="1684524" y="685547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5C7980D-760F-3072-AB34-636C8C30E6C3}"/>
              </a:ext>
            </a:extLst>
          </p:cNvPr>
          <p:cNvSpPr/>
          <p:nvPr/>
        </p:nvSpPr>
        <p:spPr>
          <a:xfrm>
            <a:off x="7481777" y="489436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EDA01F0-49FB-EEBD-1E02-0CFEE497DFF5}"/>
              </a:ext>
            </a:extLst>
          </p:cNvPr>
          <p:cNvSpPr/>
          <p:nvPr/>
        </p:nvSpPr>
        <p:spPr>
          <a:xfrm>
            <a:off x="5247859" y="890871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1951450-D458-6AD9-FDA6-A91EBC529ECF}"/>
              </a:ext>
            </a:extLst>
          </p:cNvPr>
          <p:cNvSpPr/>
          <p:nvPr/>
        </p:nvSpPr>
        <p:spPr>
          <a:xfrm>
            <a:off x="959730" y="340197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C1408AD-F481-256E-0A54-D64B42C118EB}"/>
              </a:ext>
            </a:extLst>
          </p:cNvPr>
          <p:cNvSpPr/>
          <p:nvPr/>
        </p:nvSpPr>
        <p:spPr>
          <a:xfrm>
            <a:off x="11590067" y="703026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A3D52E5-6B28-4C6C-E2BE-98BFEE30C42A}"/>
              </a:ext>
            </a:extLst>
          </p:cNvPr>
          <p:cNvSpPr/>
          <p:nvPr/>
        </p:nvSpPr>
        <p:spPr>
          <a:xfrm>
            <a:off x="17564613" y="2704181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7AE57FFA-6E07-F7D5-ACA3-5AE919B153C3}"/>
              </a:ext>
            </a:extLst>
          </p:cNvPr>
          <p:cNvSpPr/>
          <p:nvPr/>
        </p:nvSpPr>
        <p:spPr>
          <a:xfrm>
            <a:off x="13616103" y="375156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2C76694-04F0-79A2-1AA5-01498C3A29FD}"/>
              </a:ext>
            </a:extLst>
          </p:cNvPr>
          <p:cNvSpPr/>
          <p:nvPr/>
        </p:nvSpPr>
        <p:spPr>
          <a:xfrm>
            <a:off x="16751985" y="7693985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80280BF7-A480-C833-DB33-08271D09A9E5}"/>
              </a:ext>
            </a:extLst>
          </p:cNvPr>
          <p:cNvSpPr/>
          <p:nvPr/>
        </p:nvSpPr>
        <p:spPr>
          <a:xfrm>
            <a:off x="14262763" y="8986278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97CD93D-C167-4974-8AB0-AC60E11CEC15}"/>
              </a:ext>
            </a:extLst>
          </p:cNvPr>
          <p:cNvSpPr txBox="1"/>
          <p:nvPr/>
        </p:nvSpPr>
        <p:spPr>
          <a:xfrm>
            <a:off x="1345820" y="1914525"/>
            <a:ext cx="231178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1121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6C5AC74-A4BD-DD9D-0498-B5C38D6446EB}"/>
              </a:ext>
            </a:extLst>
          </p:cNvPr>
          <p:cNvSpPr txBox="1"/>
          <p:nvPr/>
        </p:nvSpPr>
        <p:spPr>
          <a:xfrm>
            <a:off x="14159939" y="1914525"/>
            <a:ext cx="290631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최고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점수</a:t>
            </a:r>
            <a:r>
              <a:rPr lang="en-US" sz="3000" dirty="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1972</a:t>
            </a: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B481B3B0-D63F-8804-090E-00AAB4259058}"/>
              </a:ext>
            </a:extLst>
          </p:cNvPr>
          <p:cNvSpPr/>
          <p:nvPr/>
        </p:nvSpPr>
        <p:spPr>
          <a:xfrm>
            <a:off x="13809148" y="1028700"/>
            <a:ext cx="3328927" cy="605259"/>
          </a:xfrm>
          <a:custGeom>
            <a:avLst/>
            <a:gdLst/>
            <a:ahLst/>
            <a:cxnLst/>
            <a:rect l="l" t="t" r="r" b="b"/>
            <a:pathLst>
              <a:path w="3328927" h="605259">
                <a:moveTo>
                  <a:pt x="0" y="0"/>
                </a:moveTo>
                <a:lnTo>
                  <a:pt x="3328927" y="0"/>
                </a:lnTo>
                <a:lnTo>
                  <a:pt x="3328927" y="605259"/>
                </a:lnTo>
                <a:lnTo>
                  <a:pt x="0" y="605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C4961C08-8212-0E40-7B26-E54F67242C3D}"/>
              </a:ext>
            </a:extLst>
          </p:cNvPr>
          <p:cNvGrpSpPr/>
          <p:nvPr/>
        </p:nvGrpSpPr>
        <p:grpSpPr>
          <a:xfrm>
            <a:off x="1345820" y="1028700"/>
            <a:ext cx="2809577" cy="730490"/>
            <a:chOff x="0" y="0"/>
            <a:chExt cx="3746102" cy="973987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1EECFAFA-4B74-BDCB-380E-B22D9FBB7507}"/>
                </a:ext>
              </a:extLst>
            </p:cNvPr>
            <p:cNvSpPr/>
            <p:nvPr/>
          </p:nvSpPr>
          <p:spPr>
            <a:xfrm>
              <a:off x="0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D848E8C2-E2ED-1CD2-2741-2377A7BAAAC2}"/>
                </a:ext>
              </a:extLst>
            </p:cNvPr>
            <p:cNvSpPr/>
            <p:nvPr/>
          </p:nvSpPr>
          <p:spPr>
            <a:xfrm>
              <a:off x="12487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0" y="0"/>
                  </a:lnTo>
                  <a:lnTo>
                    <a:pt x="1248700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4ADADB-E4D5-DF24-70CC-0AC5006C8A54}"/>
                </a:ext>
              </a:extLst>
            </p:cNvPr>
            <p:cNvSpPr/>
            <p:nvPr/>
          </p:nvSpPr>
          <p:spPr>
            <a:xfrm>
              <a:off x="24974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890E64CE-CDFC-BD83-C6D1-73F20EE3C128}"/>
              </a:ext>
            </a:extLst>
          </p:cNvPr>
          <p:cNvSpPr txBox="1"/>
          <p:nvPr/>
        </p:nvSpPr>
        <p:spPr>
          <a:xfrm>
            <a:off x="2600347" y="4406118"/>
            <a:ext cx="13087306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ko-KR" altLang="en-US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문제 발생</a:t>
            </a:r>
            <a:r>
              <a:rPr lang="en-US" altLang="ko-KR" sz="9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 Bold"/>
                <a:ea typeface="210 8비트 Bold"/>
                <a:cs typeface="210 8비트 Bold"/>
                <a:sym typeface="210 8비트 Bold"/>
              </a:rPr>
              <a:t>!</a:t>
            </a:r>
            <a:endParaRPr lang="en-US" sz="9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 Bold"/>
              <a:ea typeface="210 8비트 Bold"/>
              <a:cs typeface="210 8비트 Bold"/>
              <a:sym typeface="210 8비트 Bold"/>
            </a:endParaRPr>
          </a:p>
        </p:txBody>
      </p:sp>
    </p:spTree>
    <p:extLst>
      <p:ext uri="{BB962C8B-B14F-4D97-AF65-F5344CB8AC3E}">
        <p14:creationId xmlns:p14="http://schemas.microsoft.com/office/powerpoint/2010/main" val="2655397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DD7F6-9A9F-45E7-9CC2-7F703650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680101-2937-2489-9FFC-0C43708AC888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9C474C0-1C73-824E-5AF1-96D2FDAC5350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60FA7408-EF2D-8560-3B01-FCCA87B12B6F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장판파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798646F-036B-69B2-E218-4AE835D5EDDD}"/>
              </a:ext>
            </a:extLst>
          </p:cNvPr>
          <p:cNvSpPr txBox="1"/>
          <p:nvPr/>
        </p:nvSpPr>
        <p:spPr>
          <a:xfrm>
            <a:off x="1028700" y="4229100"/>
            <a:ext cx="7965273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miniaudio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는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C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라이브러리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절차적으로 동작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메인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thread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에서 소리를 출력시키면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그대로 소리가 끝날 때까지 게임이 정지되네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3124F41-92F8-E9F5-5C3A-EFC1557E2724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3B2ED7A-3F04-7ADC-F42D-947201D408E5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966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EF383-7193-51DE-7E96-68065A75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BB56A2-4F2F-594B-E2FC-BD101E181A7A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E8E374D-9D28-462A-7B16-79A9B5A13ED5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86A6DB4-45AC-EBB7-CE45-839304323CD7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장판파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D92C21D-19B3-4307-CEE4-307D68857049}"/>
              </a:ext>
            </a:extLst>
          </p:cNvPr>
          <p:cNvSpPr txBox="1"/>
          <p:nvPr/>
        </p:nvSpPr>
        <p:spPr>
          <a:xfrm>
            <a:off x="1028700" y="4229100"/>
            <a:ext cx="7965273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해결책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: thread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분리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소리를 재생할 때 각 소리마다 별도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thread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를 생성하도록 구현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4960C7C-DB4C-47C0-5660-E3345C2EBF3F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3DFDFAA-1027-C3F1-9B67-D78422D15344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116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4437E-A2ED-B685-FE37-87F05E6B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B61310C-BDDC-B4CA-69B6-E2DD4B6A65CB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EC3A50-FFB7-11FF-1EB6-F759C39C6DAB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2B7D681F-97FC-334C-2B5C-BC07F96AC426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신 죽이기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EA02EF3-4C5E-F2F6-F447-A44ECA38552E}"/>
              </a:ext>
            </a:extLst>
          </p:cNvPr>
          <p:cNvSpPr txBox="1"/>
          <p:nvPr/>
        </p:nvSpPr>
        <p:spPr>
          <a:xfrm>
            <a:off x="1028700" y="4229100"/>
            <a:ext cx="7965273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모든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GameObject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를 관리하면서 게임 로직을 실행하는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GameManager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클래스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추가되는 기능들이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GameManager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에 집중되면서 클래스가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“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전지전능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”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해지기 시작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코드 길이가 너무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길어짐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-&gt;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기술 부채가 쌓임 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-&gt;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유지 보수가 망함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-&gt;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프로젝트 망함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ㅅㄱ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7C740BC-D5CA-84DE-3B06-B3FFA0E905CF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934F4B4-ADE6-EB7B-FBD9-67C7A2D024CA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62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E788E-DFA7-8DF5-3331-5C1A28548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EB2FA1-4B4B-831F-A82E-CBC7BEB3EC5B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F2874B-7ECA-A512-2B1E-CC43869FCCCB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C55FB329-110B-6EF8-CF24-5188BB786DB4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신 죽이기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190C159-9B70-3C04-5E5A-0F5E337F48DB}"/>
              </a:ext>
            </a:extLst>
          </p:cNvPr>
          <p:cNvSpPr txBox="1"/>
          <p:nvPr/>
        </p:nvSpPr>
        <p:spPr>
          <a:xfrm>
            <a:off x="1028700" y="4229100"/>
            <a:ext cx="7965273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해결책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: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GameManager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를 사지절단하기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GameManager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가 담당하던 기능들을 최대한 분리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GameManager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는 </a:t>
            </a:r>
            <a:r>
              <a:rPr lang="en-US" altLang="ko-KR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GameObject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를 생성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파괴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,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갱신하는 역할만 남긴다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0151DDD-8C70-2267-76DB-5BEC5BB802BF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9E6E18A-BDE0-ED4E-FDF1-D4D12B5F04B8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238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84659-E0C8-9DA1-F24D-149BF4B5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8FF4EE-139D-45C3-3B3A-3C812AA956DD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A577C2-AB10-C577-69E9-2FCFC9FE0C2D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B8730E64-735F-DC86-C787-B1B9DF62D20B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생성 파괴 생성 파괴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4FBB477-3331-1D8F-A2A9-08E2F0B4C233}"/>
              </a:ext>
            </a:extLst>
          </p:cNvPr>
          <p:cNvSpPr txBox="1"/>
          <p:nvPr/>
        </p:nvSpPr>
        <p:spPr>
          <a:xfrm>
            <a:off x="1028700" y="4229100"/>
            <a:ext cx="7965273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 내내 계속 쓰이는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Bullet, Explosion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오브젝트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매번 생성했다 파괴했다 무한 반복됨 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프로젝트 규모가 작아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대충 초당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10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번 내외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)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성능상 문제를 일으킬 수준은 아니지만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…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4D23900-E156-652F-903B-E4294C916C5C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76E8E35-8F74-A291-A22C-B97D75B822A6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462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B12D2-19BF-7182-0FA1-12F89C62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26BFDEB-E91F-F74F-DA3B-04E1C2A77FE3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2BDEE2-AA12-9814-FF70-9C864F3011F9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AEFC78BE-7906-24E3-12B9-9AE47EA897B4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생성 파괴 생성 파괴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5DA403F-677E-F6DD-54F4-85475154FDB8}"/>
              </a:ext>
            </a:extLst>
          </p:cNvPr>
          <p:cNvSpPr txBox="1"/>
          <p:nvPr/>
        </p:nvSpPr>
        <p:spPr>
          <a:xfrm>
            <a:off x="1028700" y="4229100"/>
            <a:ext cx="7965273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예방책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: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오브젝트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풀링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오브젝트를 새로 생성하는 대신 오브젝트 풀에서 가져옴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오브젝트를 파괴하는 대신 오브젝트 풀로 반환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0F00829-CF9D-7758-FF57-37F60B516B86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EC399FA-1D79-1A7B-B7F5-44E3F0E5C511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102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CD135-32EC-4553-2A6F-2F4A786F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9A0166-25EE-8B92-E7D0-9CD95E6E0C18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14A0B6-DD7D-205A-CF2A-3CDA8756C370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E40FA4A9-A423-7D4F-500A-98B3A7368608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혼유</a:t>
            </a: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사고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C77255-E657-A106-99E0-81C56AD14C7C}"/>
              </a:ext>
            </a:extLst>
          </p:cNvPr>
          <p:cNvSpPr txBox="1"/>
          <p:nvPr/>
        </p:nvSpPr>
        <p:spPr>
          <a:xfrm>
            <a:off x="1028700" y="4229100"/>
            <a:ext cx="7965273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특수한 동작을 하는 총알을 만들기 위해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Bullet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파생 클래스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Grenade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를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만듬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오브젝트 풀에 들어갔다 나오니 다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Bullet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으로 나오네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내 경유차에 경유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기름을 상속함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)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를 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넣어달랬더니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휘발유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기름을 상속함 </a:t>
            </a: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ㅋㅋ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)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를 넣어줬어요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08B327-73E9-2447-8099-99FB337F8819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043066B-F85B-BBFE-06F6-893F01E2B4E1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726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13444-8871-66C4-6622-B68B5715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EE36C1-DC4A-64D1-0592-DA4240A19049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132478C-E357-975F-FD4D-37B37FB5989C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98C2315-FA5A-AA20-A738-3966957710C1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혼유</a:t>
            </a: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사고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3F6BF91-7F14-255E-6A0F-A762E31DB0D7}"/>
              </a:ext>
            </a:extLst>
          </p:cNvPr>
          <p:cNvSpPr txBox="1"/>
          <p:nvPr/>
        </p:nvSpPr>
        <p:spPr>
          <a:xfrm>
            <a:off x="1028700" y="4229100"/>
            <a:ext cx="7965273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어떻게 해결해야 하나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현실에선 당연히 휘발유는 휘발유 통에 넣고 경유는 경유 통에 넣겠지만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하지만 오브젝트 풀을 그런 식으로 분리하면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중복 코드가 대량 양산될 수도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F43A14E-C1BD-E1A6-CC71-C040C0AE3A60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A2FDAEA-7123-5DE2-78A3-5BDF6268798C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875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91123-4C60-263D-CA3F-B4E75F034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03FD2E-1159-ACBA-0EA9-EEF5918AAB00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BD6016-E0FB-3A81-1C43-BF8AF6A0B3BF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23BFFCD1-3203-7727-FC46-38557FEFA51C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혼유</a:t>
            </a: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사고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622E101-419D-B94F-C2B0-777A0A5B742A}"/>
              </a:ext>
            </a:extLst>
          </p:cNvPr>
          <p:cNvSpPr txBox="1"/>
          <p:nvPr/>
        </p:nvSpPr>
        <p:spPr>
          <a:xfrm>
            <a:off x="1028700" y="4229100"/>
            <a:ext cx="7965273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잘못된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)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해결책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: Bullet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파생 클래스를 다 제거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특수한 동작이 필요하다면 익명 함수를 전달해서 주입하도록 변경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Bullet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하나만 가지고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Grenade, Rocket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동작을 다 구현할 수 있게 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A2FF3B2-D81B-5C30-61B9-2851F19B41CD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C8CD917-8578-41AA-3B0D-D88EAC1A4742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024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DF5B0-B3DE-2FCB-6834-3797B303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2D3572-1084-4BDE-A7A1-C0EFB09DF115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BFC8BC-730A-0CF1-4B3F-01387F391FE2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317D313-22C8-5BAC-81AD-92F4C3BE7AA8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혼유</a:t>
            </a: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사고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FA6EB65-AFDE-C408-1970-96D9D92CC13A}"/>
              </a:ext>
            </a:extLst>
          </p:cNvPr>
          <p:cNvSpPr txBox="1"/>
          <p:nvPr/>
        </p:nvSpPr>
        <p:spPr>
          <a:xfrm>
            <a:off x="1028700" y="4229100"/>
            <a:ext cx="7965273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(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진짜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)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해결책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: 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오브젝트 풀에 제네릭 적용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오브젝트를 넣으면 그 오브젝트에 맞는 오브젝트 풀이 자동으로 생성됨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결과적으로는 두가지 방법 모두 쓰게 되었음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BF525A7-C2A6-592F-F669-843ED0308FEE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1BDE5B6-A8BC-1FB3-BED7-5A943638AB72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352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2CD5C-E2A6-1DBE-D6FC-99414B79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A108116-FCEE-3511-1984-796E171ACA2B}"/>
              </a:ext>
            </a:extLst>
          </p:cNvPr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6868AD3-6177-5573-ED86-0BD85BA396A4}"/>
                </a:ext>
              </a:extLst>
            </p:cNvPr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572E185C-C401-EDAC-AEF3-E44EFCFF1DF8}"/>
              </a:ext>
            </a:extLst>
          </p:cNvPr>
          <p:cNvSpPr txBox="1"/>
          <p:nvPr/>
        </p:nvSpPr>
        <p:spPr>
          <a:xfrm>
            <a:off x="1028700" y="2802137"/>
            <a:ext cx="8115300" cy="93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무슨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ko-KR" altLang="en-US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게임을</a:t>
            </a:r>
            <a:r>
              <a:rPr lang="en-US" altLang="ko-KR" sz="6399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…?</a:t>
            </a:r>
            <a:endParaRPr lang="en-US" sz="639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AF249C6-DEE2-2468-A817-93EE18BAD66B}"/>
              </a:ext>
            </a:extLst>
          </p:cNvPr>
          <p:cNvSpPr txBox="1"/>
          <p:nvPr/>
        </p:nvSpPr>
        <p:spPr>
          <a:xfrm>
            <a:off x="1028700" y="4229100"/>
            <a:ext cx="7965273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개똥겜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홍콩 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97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의 패러디 게임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근데 거기에 야인시대 패러디를 같이 끼얹음</a:t>
            </a: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???</a:t>
            </a: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endParaRPr lang="en-US" altLang="ko-K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210 8비트"/>
              <a:ea typeface="210 8비트"/>
              <a:cs typeface="210 8비트"/>
              <a:sym typeface="210 8비트"/>
            </a:endParaRPr>
          </a:p>
          <a:p>
            <a:pPr marL="457200" indent="-457200" algn="l">
              <a:lnSpc>
                <a:spcPts val="3120"/>
              </a:lnSpc>
              <a:buFontTx/>
              <a:buChar char="-"/>
            </a:pPr>
            <a:r>
              <a:rPr lang="ko-KR" altLang="en-U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대유쾌</a:t>
            </a:r>
            <a:r>
              <a:rPr lang="ko-KR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 마운틴</a:t>
            </a:r>
            <a:r>
              <a:rPr lang="en-US" altLang="ko-KR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210 8비트"/>
                <a:ea typeface="210 8비트"/>
                <a:cs typeface="210 8비트"/>
                <a:sym typeface="210 8비트"/>
              </a:rPr>
              <a:t>!</a:t>
            </a:r>
          </a:p>
          <a:p>
            <a:pPr algn="l">
              <a:lnSpc>
                <a:spcPts val="3120"/>
              </a:lnSpc>
            </a:pPr>
            <a:endParaRPr lang="en-US" sz="2800" dirty="0">
              <a:solidFill>
                <a:srgbClr val="FFFFFF"/>
              </a:solidFill>
              <a:latin typeface="210 8비트"/>
              <a:ea typeface="210 8비트"/>
              <a:cs typeface="210 8비트"/>
              <a:sym typeface="210 8비트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D0D9ED1-F873-8E30-9176-E635C26E14A1}"/>
              </a:ext>
            </a:extLst>
          </p:cNvPr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C65029A-CCE9-D685-EBEA-E7C8BF5A9BD1}"/>
              </a:ext>
            </a:extLst>
          </p:cNvPr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618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49299" y="848799"/>
            <a:ext cx="8589403" cy="8589403"/>
          </a:xfrm>
          <a:custGeom>
            <a:avLst/>
            <a:gdLst/>
            <a:ahLst/>
            <a:cxnLst/>
            <a:rect l="l" t="t" r="r" b="b"/>
            <a:pathLst>
              <a:path w="8589403" h="8589403">
                <a:moveTo>
                  <a:pt x="0" y="0"/>
                </a:moveTo>
                <a:lnTo>
                  <a:pt x="8589402" y="0"/>
                </a:lnTo>
                <a:lnTo>
                  <a:pt x="8589402" y="8589402"/>
                </a:lnTo>
                <a:lnTo>
                  <a:pt x="0" y="858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2680920" y="1046126"/>
            <a:ext cx="425419" cy="702644"/>
          </a:xfrm>
          <a:custGeom>
            <a:avLst/>
            <a:gdLst/>
            <a:ahLst/>
            <a:cxnLst/>
            <a:rect l="l" t="t" r="r" b="b"/>
            <a:pathLst>
              <a:path w="425419" h="702644">
                <a:moveTo>
                  <a:pt x="0" y="0"/>
                </a:moveTo>
                <a:lnTo>
                  <a:pt x="425419" y="0"/>
                </a:lnTo>
                <a:lnTo>
                  <a:pt x="425419" y="702645"/>
                </a:lnTo>
                <a:lnTo>
                  <a:pt x="0" y="702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 flipH="1">
            <a:off x="6261681" y="1003907"/>
            <a:ext cx="426604" cy="744864"/>
          </a:xfrm>
          <a:custGeom>
            <a:avLst/>
            <a:gdLst/>
            <a:ahLst/>
            <a:cxnLst/>
            <a:rect l="l" t="t" r="r" b="b"/>
            <a:pathLst>
              <a:path w="426604" h="744864">
                <a:moveTo>
                  <a:pt x="426604" y="0"/>
                </a:moveTo>
                <a:lnTo>
                  <a:pt x="0" y="0"/>
                </a:lnTo>
                <a:lnTo>
                  <a:pt x="0" y="744864"/>
                </a:lnTo>
                <a:lnTo>
                  <a:pt x="426604" y="744864"/>
                </a:lnTo>
                <a:lnTo>
                  <a:pt x="4266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1608415" y="1003907"/>
            <a:ext cx="426604" cy="744864"/>
          </a:xfrm>
          <a:custGeom>
            <a:avLst/>
            <a:gdLst/>
            <a:ahLst/>
            <a:cxnLst/>
            <a:rect l="l" t="t" r="r" b="b"/>
            <a:pathLst>
              <a:path w="426604" h="744864">
                <a:moveTo>
                  <a:pt x="0" y="0"/>
                </a:moveTo>
                <a:lnTo>
                  <a:pt x="426603" y="0"/>
                </a:lnTo>
                <a:lnTo>
                  <a:pt x="426603" y="744864"/>
                </a:lnTo>
                <a:lnTo>
                  <a:pt x="0" y="744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9517539" y="990209"/>
            <a:ext cx="384726" cy="772260"/>
          </a:xfrm>
          <a:custGeom>
            <a:avLst/>
            <a:gdLst/>
            <a:ahLst/>
            <a:cxnLst/>
            <a:rect l="l" t="t" r="r" b="b"/>
            <a:pathLst>
              <a:path w="384726" h="772260">
                <a:moveTo>
                  <a:pt x="0" y="0"/>
                </a:moveTo>
                <a:lnTo>
                  <a:pt x="384726" y="0"/>
                </a:lnTo>
                <a:lnTo>
                  <a:pt x="384726" y="772260"/>
                </a:lnTo>
                <a:lnTo>
                  <a:pt x="0" y="7722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8408418" y="976511"/>
            <a:ext cx="383322" cy="772260"/>
          </a:xfrm>
          <a:custGeom>
            <a:avLst/>
            <a:gdLst/>
            <a:ahLst/>
            <a:cxnLst/>
            <a:rect l="l" t="t" r="r" b="b"/>
            <a:pathLst>
              <a:path w="383322" h="772260">
                <a:moveTo>
                  <a:pt x="0" y="0"/>
                </a:moveTo>
                <a:lnTo>
                  <a:pt x="383322" y="0"/>
                </a:lnTo>
                <a:lnTo>
                  <a:pt x="383322" y="772260"/>
                </a:lnTo>
                <a:lnTo>
                  <a:pt x="0" y="772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0569773" y="976511"/>
            <a:ext cx="363664" cy="772260"/>
          </a:xfrm>
          <a:custGeom>
            <a:avLst/>
            <a:gdLst/>
            <a:ahLst/>
            <a:cxnLst/>
            <a:rect l="l" t="t" r="r" b="b"/>
            <a:pathLst>
              <a:path w="363664" h="772260">
                <a:moveTo>
                  <a:pt x="0" y="0"/>
                </a:moveTo>
                <a:lnTo>
                  <a:pt x="363665" y="0"/>
                </a:lnTo>
                <a:lnTo>
                  <a:pt x="363665" y="772260"/>
                </a:lnTo>
                <a:lnTo>
                  <a:pt x="0" y="772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7361988" y="976511"/>
            <a:ext cx="363664" cy="772260"/>
          </a:xfrm>
          <a:custGeom>
            <a:avLst/>
            <a:gdLst/>
            <a:ahLst/>
            <a:cxnLst/>
            <a:rect l="l" t="t" r="r" b="b"/>
            <a:pathLst>
              <a:path w="363664" h="772260">
                <a:moveTo>
                  <a:pt x="0" y="0"/>
                </a:moveTo>
                <a:lnTo>
                  <a:pt x="363664" y="0"/>
                </a:lnTo>
                <a:lnTo>
                  <a:pt x="363664" y="772260"/>
                </a:lnTo>
                <a:lnTo>
                  <a:pt x="0" y="772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5190360" y="1046126"/>
            <a:ext cx="425419" cy="702644"/>
          </a:xfrm>
          <a:custGeom>
            <a:avLst/>
            <a:gdLst/>
            <a:ahLst/>
            <a:cxnLst/>
            <a:rect l="l" t="t" r="r" b="b"/>
            <a:pathLst>
              <a:path w="425419" h="702644">
                <a:moveTo>
                  <a:pt x="0" y="0"/>
                </a:moveTo>
                <a:lnTo>
                  <a:pt x="425419" y="0"/>
                </a:lnTo>
                <a:lnTo>
                  <a:pt x="425419" y="702645"/>
                </a:lnTo>
                <a:lnTo>
                  <a:pt x="0" y="702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5213703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6285616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7354453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9520536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8413007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10569773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/>
          <p:nvPr/>
        </p:nvSpPr>
        <p:spPr>
          <a:xfrm>
            <a:off x="11632350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12704263" y="2156458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29"/>
                </a:lnTo>
                <a:lnTo>
                  <a:pt x="0" y="68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/>
          <p:nvPr/>
        </p:nvSpPr>
        <p:spPr>
          <a:xfrm>
            <a:off x="12680920" y="8501868"/>
            <a:ext cx="425419" cy="702644"/>
          </a:xfrm>
          <a:custGeom>
            <a:avLst/>
            <a:gdLst/>
            <a:ahLst/>
            <a:cxnLst/>
            <a:rect l="l" t="t" r="r" b="b"/>
            <a:pathLst>
              <a:path w="425419" h="702644">
                <a:moveTo>
                  <a:pt x="0" y="0"/>
                </a:moveTo>
                <a:lnTo>
                  <a:pt x="425419" y="0"/>
                </a:lnTo>
                <a:lnTo>
                  <a:pt x="425419" y="702645"/>
                </a:lnTo>
                <a:lnTo>
                  <a:pt x="0" y="7026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Freeform 20"/>
          <p:cNvSpPr/>
          <p:nvPr/>
        </p:nvSpPr>
        <p:spPr>
          <a:xfrm flipH="1">
            <a:off x="6285616" y="8445951"/>
            <a:ext cx="426604" cy="744864"/>
          </a:xfrm>
          <a:custGeom>
            <a:avLst/>
            <a:gdLst/>
            <a:ahLst/>
            <a:cxnLst/>
            <a:rect l="l" t="t" r="r" b="b"/>
            <a:pathLst>
              <a:path w="426604" h="744864">
                <a:moveTo>
                  <a:pt x="426604" y="0"/>
                </a:moveTo>
                <a:lnTo>
                  <a:pt x="0" y="0"/>
                </a:lnTo>
                <a:lnTo>
                  <a:pt x="0" y="744863"/>
                </a:lnTo>
                <a:lnTo>
                  <a:pt x="426604" y="744863"/>
                </a:lnTo>
                <a:lnTo>
                  <a:pt x="426604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9517539" y="8445951"/>
            <a:ext cx="384726" cy="772260"/>
          </a:xfrm>
          <a:custGeom>
            <a:avLst/>
            <a:gdLst/>
            <a:ahLst/>
            <a:cxnLst/>
            <a:rect l="l" t="t" r="r" b="b"/>
            <a:pathLst>
              <a:path w="384726" h="772260">
                <a:moveTo>
                  <a:pt x="0" y="0"/>
                </a:moveTo>
                <a:lnTo>
                  <a:pt x="384726" y="0"/>
                </a:lnTo>
                <a:lnTo>
                  <a:pt x="384726" y="772260"/>
                </a:lnTo>
                <a:lnTo>
                  <a:pt x="0" y="77226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22"/>
          <p:cNvSpPr/>
          <p:nvPr/>
        </p:nvSpPr>
        <p:spPr>
          <a:xfrm>
            <a:off x="8408418" y="8432252"/>
            <a:ext cx="383322" cy="772260"/>
          </a:xfrm>
          <a:custGeom>
            <a:avLst/>
            <a:gdLst/>
            <a:ahLst/>
            <a:cxnLst/>
            <a:rect l="l" t="t" r="r" b="b"/>
            <a:pathLst>
              <a:path w="383322" h="772260">
                <a:moveTo>
                  <a:pt x="0" y="0"/>
                </a:moveTo>
                <a:lnTo>
                  <a:pt x="383322" y="0"/>
                </a:lnTo>
                <a:lnTo>
                  <a:pt x="383322" y="772261"/>
                </a:lnTo>
                <a:lnTo>
                  <a:pt x="0" y="772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Freeform 23"/>
          <p:cNvSpPr/>
          <p:nvPr/>
        </p:nvSpPr>
        <p:spPr>
          <a:xfrm>
            <a:off x="10569773" y="8432252"/>
            <a:ext cx="363664" cy="772260"/>
          </a:xfrm>
          <a:custGeom>
            <a:avLst/>
            <a:gdLst/>
            <a:ahLst/>
            <a:cxnLst/>
            <a:rect l="l" t="t" r="r" b="b"/>
            <a:pathLst>
              <a:path w="363664" h="772260">
                <a:moveTo>
                  <a:pt x="0" y="0"/>
                </a:moveTo>
                <a:lnTo>
                  <a:pt x="363665" y="0"/>
                </a:lnTo>
                <a:lnTo>
                  <a:pt x="363665" y="772261"/>
                </a:lnTo>
                <a:lnTo>
                  <a:pt x="0" y="77226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5190360" y="8501868"/>
            <a:ext cx="425419" cy="702644"/>
          </a:xfrm>
          <a:custGeom>
            <a:avLst/>
            <a:gdLst/>
            <a:ahLst/>
            <a:cxnLst/>
            <a:rect l="l" t="t" r="r" b="b"/>
            <a:pathLst>
              <a:path w="425419" h="702644">
                <a:moveTo>
                  <a:pt x="0" y="0"/>
                </a:moveTo>
                <a:lnTo>
                  <a:pt x="425419" y="0"/>
                </a:lnTo>
                <a:lnTo>
                  <a:pt x="425419" y="702645"/>
                </a:lnTo>
                <a:lnTo>
                  <a:pt x="0" y="7026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>
            <a:off x="5213703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Freeform 26"/>
          <p:cNvSpPr/>
          <p:nvPr/>
        </p:nvSpPr>
        <p:spPr>
          <a:xfrm>
            <a:off x="7361988" y="8432252"/>
            <a:ext cx="363664" cy="772260"/>
          </a:xfrm>
          <a:custGeom>
            <a:avLst/>
            <a:gdLst/>
            <a:ahLst/>
            <a:cxnLst/>
            <a:rect l="l" t="t" r="r" b="b"/>
            <a:pathLst>
              <a:path w="363664" h="772260">
                <a:moveTo>
                  <a:pt x="0" y="0"/>
                </a:moveTo>
                <a:lnTo>
                  <a:pt x="363664" y="0"/>
                </a:lnTo>
                <a:lnTo>
                  <a:pt x="363664" y="772261"/>
                </a:lnTo>
                <a:lnTo>
                  <a:pt x="0" y="77226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7354453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6309551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4" y="0"/>
                </a:lnTo>
                <a:lnTo>
                  <a:pt x="378734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8410713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9523532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Freeform 31"/>
          <p:cNvSpPr/>
          <p:nvPr/>
        </p:nvSpPr>
        <p:spPr>
          <a:xfrm>
            <a:off x="10562239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Freeform 32"/>
          <p:cNvSpPr/>
          <p:nvPr/>
        </p:nvSpPr>
        <p:spPr>
          <a:xfrm>
            <a:off x="11608415" y="8459649"/>
            <a:ext cx="426604" cy="744864"/>
          </a:xfrm>
          <a:custGeom>
            <a:avLst/>
            <a:gdLst/>
            <a:ahLst/>
            <a:cxnLst/>
            <a:rect l="l" t="t" r="r" b="b"/>
            <a:pathLst>
              <a:path w="426604" h="744864">
                <a:moveTo>
                  <a:pt x="0" y="0"/>
                </a:moveTo>
                <a:lnTo>
                  <a:pt x="426603" y="0"/>
                </a:lnTo>
                <a:lnTo>
                  <a:pt x="426603" y="744864"/>
                </a:lnTo>
                <a:lnTo>
                  <a:pt x="0" y="74486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3" name="Freeform 33"/>
          <p:cNvSpPr/>
          <p:nvPr/>
        </p:nvSpPr>
        <p:spPr>
          <a:xfrm>
            <a:off x="11632350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Freeform 34"/>
          <p:cNvSpPr/>
          <p:nvPr/>
        </p:nvSpPr>
        <p:spPr>
          <a:xfrm>
            <a:off x="12704263" y="7504826"/>
            <a:ext cx="378733" cy="680729"/>
          </a:xfrm>
          <a:custGeom>
            <a:avLst/>
            <a:gdLst/>
            <a:ahLst/>
            <a:cxnLst/>
            <a:rect l="l" t="t" r="r" b="b"/>
            <a:pathLst>
              <a:path w="378733" h="680729">
                <a:moveTo>
                  <a:pt x="0" y="0"/>
                </a:moveTo>
                <a:lnTo>
                  <a:pt x="378733" y="0"/>
                </a:lnTo>
                <a:lnTo>
                  <a:pt x="378733" y="680730"/>
                </a:lnTo>
                <a:lnTo>
                  <a:pt x="0" y="6807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Group 35"/>
          <p:cNvGrpSpPr/>
          <p:nvPr/>
        </p:nvGrpSpPr>
        <p:grpSpPr>
          <a:xfrm>
            <a:off x="562206" y="8215463"/>
            <a:ext cx="3949544" cy="1222738"/>
            <a:chOff x="0" y="0"/>
            <a:chExt cx="5266059" cy="1630318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5266059" cy="1630318"/>
              <a:chOff x="0" y="0"/>
              <a:chExt cx="3472874" cy="1079489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472874" cy="1079489"/>
              </a:xfrm>
              <a:custGeom>
                <a:avLst/>
                <a:gdLst/>
                <a:ahLst/>
                <a:cxnLst/>
                <a:rect l="l" t="t" r="r" b="b"/>
                <a:pathLst>
                  <a:path w="3472874" h="1079489">
                    <a:moveTo>
                      <a:pt x="3348414" y="1079489"/>
                    </a:moveTo>
                    <a:lnTo>
                      <a:pt x="124460" y="1079489"/>
                    </a:lnTo>
                    <a:cubicBezTo>
                      <a:pt x="55880" y="1079489"/>
                      <a:pt x="0" y="1023609"/>
                      <a:pt x="0" y="95502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348414" y="0"/>
                    </a:lnTo>
                    <a:cubicBezTo>
                      <a:pt x="3416994" y="0"/>
                      <a:pt x="3472874" y="55880"/>
                      <a:pt x="3472874" y="124460"/>
                    </a:cubicBezTo>
                    <a:lnTo>
                      <a:pt x="3472874" y="955029"/>
                    </a:lnTo>
                    <a:cubicBezTo>
                      <a:pt x="3472874" y="1023609"/>
                      <a:pt x="3416994" y="1079489"/>
                      <a:pt x="3348414" y="107948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034977" y="1112593"/>
              <a:ext cx="3945637" cy="244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57"/>
                </a:lnSpc>
                <a:spcBef>
                  <a:spcPct val="0"/>
                </a:spcBef>
              </a:pPr>
              <a:r>
                <a:rPr lang="en-US" sz="1038" b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이 페이지 편집이 끝나고 나면 이 메모는 삭제해 주세요.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4977" y="188175"/>
              <a:ext cx="3951351" cy="7640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57"/>
                </a:lnSpc>
                <a:spcBef>
                  <a:spcPct val="0"/>
                </a:spcBef>
              </a:pPr>
              <a:r>
                <a:rPr lang="en-US" sz="1038" b="1">
                  <a:solidFill>
                    <a:srgbClr val="191919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  <a:hlinkClick r:id="rId28" tooltip="https://docs.google.com/spreadsheets/d/1DUF2isFWsqVSYhbaACYtbgcLi_YjDqpE3GLQIVgkKQg/edit#gid=69851113"/>
                </a:rPr>
                <a:t>한 라운드에 플레이하려는 새로운 카드의 수에 따라 </a:t>
              </a:r>
            </a:p>
            <a:p>
              <a:pPr marL="0" lvl="0" indent="0" algn="l">
                <a:lnSpc>
                  <a:spcPts val="1557"/>
                </a:lnSpc>
                <a:spcBef>
                  <a:spcPct val="0"/>
                </a:spcBef>
              </a:pPr>
              <a:r>
                <a:rPr lang="en-US" sz="1038" b="1">
                  <a:solidFill>
                    <a:srgbClr val="191919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  <a:hlinkClick r:id="rId28" tooltip="https://docs.google.com/spreadsheets/d/1DUF2isFWsqVSYhbaACYtbgcLi_YjDqpE3GLQIVgkKQg/edit#gid=69851113"/>
                </a:rPr>
                <a:t>필요한 만큼 페이지를 복사하세요. 재미난 시간 </a:t>
              </a:r>
            </a:p>
            <a:p>
              <a:pPr marL="0" lvl="0" indent="0" algn="l">
                <a:lnSpc>
                  <a:spcPts val="1557"/>
                </a:lnSpc>
                <a:spcBef>
                  <a:spcPct val="0"/>
                </a:spcBef>
              </a:pPr>
              <a:r>
                <a:rPr lang="en-US" sz="1038" b="1">
                  <a:solidFill>
                    <a:srgbClr val="191919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  <a:hlinkClick r:id="rId28" tooltip="https://docs.google.com/spreadsheets/d/1DUF2isFWsqVSYhbaACYtbgcLi_YjDqpE3GLQIVgkKQg/edit#gid=69851113"/>
                </a:rPr>
                <a:t>보내세요!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247633" y="365550"/>
              <a:ext cx="554865" cy="593042"/>
            </a:xfrm>
            <a:custGeom>
              <a:avLst/>
              <a:gdLst/>
              <a:ahLst/>
              <a:cxnLst/>
              <a:rect l="l" t="t" r="r" b="b"/>
              <a:pathLst>
                <a:path w="554865" h="593042">
                  <a:moveTo>
                    <a:pt x="0" y="0"/>
                  </a:moveTo>
                  <a:lnTo>
                    <a:pt x="554865" y="0"/>
                  </a:lnTo>
                  <a:lnTo>
                    <a:pt x="554865" y="593043"/>
                  </a:lnTo>
                  <a:lnTo>
                    <a:pt x="0" y="593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92651" y="2031831"/>
            <a:ext cx="300122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>
                <a:solidFill>
                  <a:srgbClr val="191919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플레이어 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008487" y="2031089"/>
            <a:ext cx="300122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>
                <a:solidFill>
                  <a:srgbClr val="191919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플레이어 2</a:t>
            </a:r>
          </a:p>
        </p:txBody>
      </p:sp>
      <p:sp>
        <p:nvSpPr>
          <p:cNvPr id="43" name="Freeform 43"/>
          <p:cNvSpPr/>
          <p:nvPr/>
        </p:nvSpPr>
        <p:spPr>
          <a:xfrm>
            <a:off x="13844636" y="1291757"/>
            <a:ext cx="3328927" cy="605259"/>
          </a:xfrm>
          <a:custGeom>
            <a:avLst/>
            <a:gdLst/>
            <a:ahLst/>
            <a:cxnLst/>
            <a:rect l="l" t="t" r="r" b="b"/>
            <a:pathLst>
              <a:path w="3328927" h="605259">
                <a:moveTo>
                  <a:pt x="0" y="0"/>
                </a:moveTo>
                <a:lnTo>
                  <a:pt x="3328927" y="0"/>
                </a:lnTo>
                <a:lnTo>
                  <a:pt x="3328927" y="605259"/>
                </a:lnTo>
                <a:lnTo>
                  <a:pt x="0" y="60525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4" name="Freeform 44"/>
          <p:cNvSpPr/>
          <p:nvPr/>
        </p:nvSpPr>
        <p:spPr>
          <a:xfrm>
            <a:off x="928800" y="1233980"/>
            <a:ext cx="3328927" cy="605259"/>
          </a:xfrm>
          <a:custGeom>
            <a:avLst/>
            <a:gdLst/>
            <a:ahLst/>
            <a:cxnLst/>
            <a:rect l="l" t="t" r="r" b="b"/>
            <a:pathLst>
              <a:path w="3328927" h="605259">
                <a:moveTo>
                  <a:pt x="0" y="0"/>
                </a:moveTo>
                <a:lnTo>
                  <a:pt x="3328927" y="0"/>
                </a:lnTo>
                <a:lnTo>
                  <a:pt x="3328927" y="605260"/>
                </a:lnTo>
                <a:lnTo>
                  <a:pt x="0" y="60526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7951" y="6965489"/>
            <a:ext cx="5323671" cy="1658562"/>
            <a:chOff x="0" y="0"/>
            <a:chExt cx="7098228" cy="221141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098228" cy="2211416"/>
              <a:chOff x="0" y="0"/>
              <a:chExt cx="3472874" cy="108630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472874" cy="1086306"/>
              </a:xfrm>
              <a:custGeom>
                <a:avLst/>
                <a:gdLst/>
                <a:ahLst/>
                <a:cxnLst/>
                <a:rect l="l" t="t" r="r" b="b"/>
                <a:pathLst>
                  <a:path w="3472874" h="1086306">
                    <a:moveTo>
                      <a:pt x="3348414" y="1086305"/>
                    </a:moveTo>
                    <a:lnTo>
                      <a:pt x="124460" y="1086305"/>
                    </a:lnTo>
                    <a:cubicBezTo>
                      <a:pt x="55880" y="1086305"/>
                      <a:pt x="0" y="1030426"/>
                      <a:pt x="0" y="96184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348414" y="0"/>
                    </a:lnTo>
                    <a:cubicBezTo>
                      <a:pt x="3416994" y="0"/>
                      <a:pt x="3472874" y="55880"/>
                      <a:pt x="3472874" y="124460"/>
                    </a:cubicBezTo>
                    <a:lnTo>
                      <a:pt x="3472874" y="961846"/>
                    </a:lnTo>
                    <a:cubicBezTo>
                      <a:pt x="3472874" y="1030426"/>
                      <a:pt x="3416994" y="1086306"/>
                      <a:pt x="3348414" y="108630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1395067" y="1500231"/>
              <a:ext cx="5318404" cy="34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이 </a:t>
              </a:r>
              <a:r>
                <a:rPr lang="en-US" sz="1400" b="1" dirty="0" err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페이지</a:t>
              </a: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 </a:t>
              </a:r>
              <a:r>
                <a:rPr lang="en-US" sz="1400" b="1" dirty="0" err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편집이</a:t>
              </a: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 </a:t>
              </a:r>
              <a:r>
                <a:rPr lang="en-US" sz="1400" b="1" dirty="0" err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끝나고</a:t>
              </a: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 </a:t>
              </a:r>
              <a:r>
                <a:rPr lang="en-US" sz="1400" b="1" dirty="0" err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나면</a:t>
              </a: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 이 </a:t>
              </a:r>
              <a:r>
                <a:rPr lang="en-US" sz="1400" b="1" dirty="0" err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메모는</a:t>
              </a: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 </a:t>
              </a:r>
              <a:r>
                <a:rPr lang="en-US" sz="1400" b="1" dirty="0" err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삭제해</a:t>
              </a: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 </a:t>
              </a:r>
              <a:r>
                <a:rPr lang="en-US" sz="1400" b="1" dirty="0" err="1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주세요</a:t>
              </a:r>
              <a:r>
                <a:rPr lang="en-US" sz="1400" b="1" dirty="0">
                  <a:solidFill>
                    <a:srgbClr val="D33C2D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</a:rPr>
                <a:t>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5067" y="421593"/>
              <a:ext cx="5326106" cy="697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400" b="1">
                  <a:solidFill>
                    <a:srgbClr val="191919"/>
                  </a:solidFill>
                  <a:latin typeface="Arita Dotum Medium"/>
                  <a:ea typeface="Arita Dotum Medium"/>
                  <a:cs typeface="Arita Dotum Medium"/>
                  <a:sym typeface="Arita Dotum Medium"/>
                  <a:hlinkClick r:id="rId2" tooltip="https://docs.google.com/spreadsheets/d/1DUF2isFWsqVSYhbaACYtbgcLi_YjDqpE3GLQIVgkKQg/edit#gid=69851113"/>
                </a:rPr>
                <a:t>점수판을 사용하여 포인트를 추적하세요! 플레이어가 포인트를 받을 때마다 토큰을 복사하여 붙여 넣으세요.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333789" y="497249"/>
              <a:ext cx="747914" cy="799374"/>
            </a:xfrm>
            <a:custGeom>
              <a:avLst/>
              <a:gdLst/>
              <a:ahLst/>
              <a:cxnLst/>
              <a:rect l="l" t="t" r="r" b="b"/>
              <a:pathLst>
                <a:path w="747914" h="799374">
                  <a:moveTo>
                    <a:pt x="0" y="0"/>
                  </a:moveTo>
                  <a:lnTo>
                    <a:pt x="747914" y="0"/>
                  </a:lnTo>
                  <a:lnTo>
                    <a:pt x="747914" y="799374"/>
                  </a:lnTo>
                  <a:lnTo>
                    <a:pt x="0" y="799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943403" y="3636428"/>
            <a:ext cx="966534" cy="2233586"/>
          </a:xfrm>
          <a:custGeom>
            <a:avLst/>
            <a:gdLst/>
            <a:ahLst/>
            <a:cxnLst/>
            <a:rect l="l" t="t" r="r" b="b"/>
            <a:pathLst>
              <a:path w="966534" h="2233586">
                <a:moveTo>
                  <a:pt x="0" y="0"/>
                </a:moveTo>
                <a:lnTo>
                  <a:pt x="966534" y="0"/>
                </a:lnTo>
                <a:lnTo>
                  <a:pt x="966534" y="2233586"/>
                </a:lnTo>
                <a:lnTo>
                  <a:pt x="0" y="223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959647" y="6620652"/>
            <a:ext cx="950289" cy="2233586"/>
          </a:xfrm>
          <a:custGeom>
            <a:avLst/>
            <a:gdLst/>
            <a:ahLst/>
            <a:cxnLst/>
            <a:rect l="l" t="t" r="r" b="b"/>
            <a:pathLst>
              <a:path w="950289" h="2233586">
                <a:moveTo>
                  <a:pt x="0" y="0"/>
                </a:moveTo>
                <a:lnTo>
                  <a:pt x="950290" y="0"/>
                </a:lnTo>
                <a:lnTo>
                  <a:pt x="950290" y="2233586"/>
                </a:lnTo>
                <a:lnTo>
                  <a:pt x="0" y="2233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3333954" y="1019175"/>
            <a:ext cx="11620091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19"/>
              </a:lnSpc>
            </a:pPr>
            <a:r>
              <a:rPr lang="en-US" sz="9600">
                <a:solidFill>
                  <a:srgbClr val="1E60D1"/>
                </a:solidFill>
                <a:latin typeface="210 8비트"/>
                <a:ea typeface="210 8비트"/>
                <a:cs typeface="210 8비트"/>
                <a:sym typeface="210 8비트"/>
              </a:rPr>
              <a:t>점수판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52354" y="3752302"/>
            <a:ext cx="3001224" cy="1925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7"/>
              </a:lnSpc>
            </a:pPr>
            <a:r>
              <a:rPr lang="en-US" sz="5874">
                <a:solidFill>
                  <a:srgbClr val="191919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플레이어</a:t>
            </a:r>
          </a:p>
          <a:p>
            <a:pPr algn="ctr">
              <a:lnSpc>
                <a:spcPts val="7637"/>
              </a:lnSpc>
            </a:pPr>
            <a:r>
              <a:rPr lang="en-US" sz="5874">
                <a:solidFill>
                  <a:srgbClr val="191919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52354" y="6635617"/>
            <a:ext cx="3001224" cy="1925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7"/>
              </a:lnSpc>
            </a:pPr>
            <a:r>
              <a:rPr lang="en-US" sz="5874">
                <a:solidFill>
                  <a:srgbClr val="191919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플레이어</a:t>
            </a:r>
          </a:p>
          <a:p>
            <a:pPr algn="ctr">
              <a:lnSpc>
                <a:spcPts val="7637"/>
              </a:lnSpc>
            </a:pPr>
            <a:r>
              <a:rPr lang="en-US" sz="5874">
                <a:solidFill>
                  <a:srgbClr val="191919"/>
                </a:solidFill>
                <a:latin typeface="210 8비트 Bold"/>
                <a:ea typeface="210 8비트 Bold"/>
                <a:cs typeface="210 8비트 Bold"/>
                <a:sym typeface="210 8비트 Bold"/>
              </a:rPr>
              <a:t>2</a:t>
            </a:r>
          </a:p>
        </p:txBody>
      </p:sp>
      <p:sp>
        <p:nvSpPr>
          <p:cNvPr id="13" name="Freeform 13"/>
          <p:cNvSpPr/>
          <p:nvPr/>
        </p:nvSpPr>
        <p:spPr>
          <a:xfrm>
            <a:off x="6888910" y="4075031"/>
            <a:ext cx="1738949" cy="1356380"/>
          </a:xfrm>
          <a:custGeom>
            <a:avLst/>
            <a:gdLst/>
            <a:ahLst/>
            <a:cxnLst/>
            <a:rect l="l" t="t" r="r" b="b"/>
            <a:pathLst>
              <a:path w="1738949" h="1356380">
                <a:moveTo>
                  <a:pt x="0" y="0"/>
                </a:moveTo>
                <a:lnTo>
                  <a:pt x="1738949" y="0"/>
                </a:lnTo>
                <a:lnTo>
                  <a:pt x="1738949" y="1356380"/>
                </a:lnTo>
                <a:lnTo>
                  <a:pt x="0" y="1356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9028940" y="4075031"/>
            <a:ext cx="1738949" cy="1356380"/>
          </a:xfrm>
          <a:custGeom>
            <a:avLst/>
            <a:gdLst/>
            <a:ahLst/>
            <a:cxnLst/>
            <a:rect l="l" t="t" r="r" b="b"/>
            <a:pathLst>
              <a:path w="1738949" h="1356380">
                <a:moveTo>
                  <a:pt x="0" y="0"/>
                </a:moveTo>
                <a:lnTo>
                  <a:pt x="1738949" y="0"/>
                </a:lnTo>
                <a:lnTo>
                  <a:pt x="1738949" y="1356380"/>
                </a:lnTo>
                <a:lnTo>
                  <a:pt x="0" y="1356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6888910" y="6958346"/>
            <a:ext cx="1738949" cy="1356380"/>
          </a:xfrm>
          <a:custGeom>
            <a:avLst/>
            <a:gdLst/>
            <a:ahLst/>
            <a:cxnLst/>
            <a:rect l="l" t="t" r="r" b="b"/>
            <a:pathLst>
              <a:path w="1738949" h="1356380">
                <a:moveTo>
                  <a:pt x="0" y="0"/>
                </a:moveTo>
                <a:lnTo>
                  <a:pt x="1738949" y="0"/>
                </a:lnTo>
                <a:lnTo>
                  <a:pt x="1738949" y="1356380"/>
                </a:lnTo>
                <a:lnTo>
                  <a:pt x="0" y="1356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1028700" y="6177458"/>
            <a:ext cx="16230600" cy="0"/>
          </a:xfrm>
          <a:prstGeom prst="line">
            <a:avLst/>
          </a:prstGeom>
          <a:ln w="57150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3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232108" y="3091369"/>
            <a:ext cx="6223593" cy="4937339"/>
            <a:chOff x="0" y="0"/>
            <a:chExt cx="3539490" cy="2807970"/>
          </a:xfrm>
        </p:grpSpPr>
        <p:sp>
          <p:nvSpPr>
            <p:cNvPr id="3" name="Freeform 3"/>
            <p:cNvSpPr/>
            <p:nvPr/>
          </p:nvSpPr>
          <p:spPr>
            <a:xfrm>
              <a:off x="423" y="0"/>
              <a:ext cx="3541607" cy="2809240"/>
            </a:xfrm>
            <a:custGeom>
              <a:avLst/>
              <a:gdLst/>
              <a:ahLst/>
              <a:cxnLst/>
              <a:rect l="l" t="t" r="r" b="b"/>
              <a:pathLst>
                <a:path w="3541607" h="2809240">
                  <a:moveTo>
                    <a:pt x="3535257" y="2785110"/>
                  </a:moveTo>
                  <a:lnTo>
                    <a:pt x="3384127" y="2785110"/>
                  </a:lnTo>
                  <a:lnTo>
                    <a:pt x="3325707" y="2754630"/>
                  </a:lnTo>
                  <a:lnTo>
                    <a:pt x="218017" y="2777490"/>
                  </a:lnTo>
                  <a:lnTo>
                    <a:pt x="159597" y="2807970"/>
                  </a:lnTo>
                  <a:lnTo>
                    <a:pt x="3387" y="2809240"/>
                  </a:lnTo>
                  <a:lnTo>
                    <a:pt x="3387" y="1851660"/>
                  </a:lnTo>
                  <a:cubicBezTo>
                    <a:pt x="3387" y="1851660"/>
                    <a:pt x="-4233" y="1442720"/>
                    <a:pt x="3387" y="1189990"/>
                  </a:cubicBezTo>
                  <a:cubicBezTo>
                    <a:pt x="11007" y="937260"/>
                    <a:pt x="3387" y="798830"/>
                    <a:pt x="3387" y="798830"/>
                  </a:cubicBezTo>
                  <a:lnTo>
                    <a:pt x="2117" y="533400"/>
                  </a:lnTo>
                  <a:lnTo>
                    <a:pt x="2117" y="0"/>
                  </a:lnTo>
                  <a:lnTo>
                    <a:pt x="437727" y="0"/>
                  </a:lnTo>
                  <a:lnTo>
                    <a:pt x="525357" y="41910"/>
                  </a:lnTo>
                  <a:cubicBezTo>
                    <a:pt x="525357" y="41910"/>
                    <a:pt x="1477857" y="19050"/>
                    <a:pt x="1701377" y="38100"/>
                  </a:cubicBezTo>
                  <a:cubicBezTo>
                    <a:pt x="1924897" y="57150"/>
                    <a:pt x="3078057" y="41910"/>
                    <a:pt x="3078057" y="41910"/>
                  </a:cubicBezTo>
                  <a:lnTo>
                    <a:pt x="3130127" y="0"/>
                  </a:lnTo>
                  <a:lnTo>
                    <a:pt x="3536527" y="0"/>
                  </a:lnTo>
                  <a:lnTo>
                    <a:pt x="3536527" y="727710"/>
                  </a:lnTo>
                  <a:cubicBezTo>
                    <a:pt x="3536527" y="727710"/>
                    <a:pt x="3544147" y="716280"/>
                    <a:pt x="3536527" y="1013460"/>
                  </a:cubicBezTo>
                  <a:cubicBezTo>
                    <a:pt x="3528907" y="1310640"/>
                    <a:pt x="3536527" y="1362710"/>
                    <a:pt x="3536527" y="1362710"/>
                  </a:cubicBezTo>
                  <a:cubicBezTo>
                    <a:pt x="3536527" y="1362710"/>
                    <a:pt x="3547957" y="1604010"/>
                    <a:pt x="3536527" y="1762760"/>
                  </a:cubicBezTo>
                  <a:cubicBezTo>
                    <a:pt x="3523827" y="1924050"/>
                    <a:pt x="3535257" y="2785110"/>
                    <a:pt x="3535257" y="2785110"/>
                  </a:cubicBezTo>
                  <a:close/>
                </a:path>
              </a:pathLst>
            </a:custGeom>
            <a:blipFill>
              <a:blip r:embed="rId2"/>
              <a:stretch>
                <a:fillRect l="-9490" r="-94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2802137"/>
            <a:ext cx="8115300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최고의 </a:t>
            </a:r>
          </a:p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체스 플레이어 </a:t>
            </a:r>
          </a:p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상은...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519744"/>
            <a:ext cx="7965273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단 한 사람만이 승리할 수 있습니다! 이것을 사용하여 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게임의 승자를 인정하세요.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165430"/>
            <a:ext cx="3786794" cy="626542"/>
          </a:xfrm>
          <a:custGeom>
            <a:avLst/>
            <a:gdLst/>
            <a:ahLst/>
            <a:cxnLst/>
            <a:rect l="l" t="t" r="r" b="b"/>
            <a:pathLst>
              <a:path w="3786794" h="626542">
                <a:moveTo>
                  <a:pt x="0" y="0"/>
                </a:moveTo>
                <a:lnTo>
                  <a:pt x="3786794" y="0"/>
                </a:lnTo>
                <a:lnTo>
                  <a:pt x="3786794" y="626543"/>
                </a:lnTo>
                <a:lnTo>
                  <a:pt x="0" y="626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6985448" y="3468940"/>
            <a:ext cx="816534" cy="4182195"/>
          </a:xfrm>
          <a:custGeom>
            <a:avLst/>
            <a:gdLst/>
            <a:ahLst/>
            <a:cxnLst/>
            <a:rect l="l" t="t" r="r" b="b"/>
            <a:pathLst>
              <a:path w="816534" h="4182195">
                <a:moveTo>
                  <a:pt x="0" y="0"/>
                </a:moveTo>
                <a:lnTo>
                  <a:pt x="816534" y="0"/>
                </a:lnTo>
                <a:lnTo>
                  <a:pt x="816534" y="4182196"/>
                </a:lnTo>
                <a:lnTo>
                  <a:pt x="0" y="418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200"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54106" y="2896177"/>
            <a:ext cx="12779788" cy="3831517"/>
            <a:chOff x="0" y="0"/>
            <a:chExt cx="17039718" cy="5108689"/>
          </a:xfrm>
        </p:grpSpPr>
        <p:sp>
          <p:nvSpPr>
            <p:cNvPr id="3" name="TextBox 3"/>
            <p:cNvSpPr txBox="1"/>
            <p:nvPr/>
          </p:nvSpPr>
          <p:spPr>
            <a:xfrm>
              <a:off x="0" y="-5292"/>
              <a:ext cx="17039718" cy="389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19"/>
                </a:lnSpc>
              </a:pPr>
              <a:r>
                <a:rPr lang="en-US" sz="9600">
                  <a:solidFill>
                    <a:srgbClr val="4889F8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함께해 주셔서</a:t>
              </a:r>
            </a:p>
            <a:p>
              <a:pPr algn="ctr">
                <a:lnSpc>
                  <a:spcPts val="11519"/>
                </a:lnSpc>
              </a:pPr>
              <a:r>
                <a:rPr lang="en-US" sz="9600">
                  <a:solidFill>
                    <a:srgbClr val="4889F8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감사합니다!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70844" y="4588412"/>
              <a:ext cx="969803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283">
                  <a:solidFill>
                    <a:srgbClr val="FFFFFF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다시 플레이하겠습니까?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491480" y="7693985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89" y="0"/>
                </a:lnTo>
                <a:lnTo>
                  <a:pt x="386089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5121149" y="853907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4908842" y="4848780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0583877" y="149262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89" y="0"/>
                </a:lnTo>
                <a:lnTo>
                  <a:pt x="386089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5247859" y="890871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91480" y="2896177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89" y="0"/>
                </a:lnTo>
                <a:lnTo>
                  <a:pt x="386089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2482648" y="7205056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17066255" y="2896177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5533894" y="679113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4155396" y="5265318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6"/>
                </a:lnTo>
                <a:lnTo>
                  <a:pt x="0" y="34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16751985" y="7693985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14359460" y="9335872"/>
            <a:ext cx="386090" cy="349587"/>
          </a:xfrm>
          <a:custGeom>
            <a:avLst/>
            <a:gdLst/>
            <a:ahLst/>
            <a:cxnLst/>
            <a:rect l="l" t="t" r="r" b="b"/>
            <a:pathLst>
              <a:path w="386090" h="349587">
                <a:moveTo>
                  <a:pt x="0" y="0"/>
                </a:moveTo>
                <a:lnTo>
                  <a:pt x="386090" y="0"/>
                </a:lnTo>
                <a:lnTo>
                  <a:pt x="386090" y="349587"/>
                </a:lnTo>
                <a:lnTo>
                  <a:pt x="0" y="34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6527175" y="7248078"/>
            <a:ext cx="2196534" cy="899491"/>
            <a:chOff x="0" y="0"/>
            <a:chExt cx="2928712" cy="11993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28712" cy="1199322"/>
            </a:xfrm>
            <a:custGeom>
              <a:avLst/>
              <a:gdLst/>
              <a:ahLst/>
              <a:cxnLst/>
              <a:rect l="l" t="t" r="r" b="b"/>
              <a:pathLst>
                <a:path w="2928712" h="1199322">
                  <a:moveTo>
                    <a:pt x="0" y="0"/>
                  </a:moveTo>
                  <a:lnTo>
                    <a:pt x="2928712" y="0"/>
                  </a:lnTo>
                  <a:lnTo>
                    <a:pt x="2928712" y="1199322"/>
                  </a:lnTo>
                  <a:lnTo>
                    <a:pt x="0" y="119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2391" b="-239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6861" y="323648"/>
              <a:ext cx="239499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283">
                  <a:solidFill>
                    <a:srgbClr val="FFFFFF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예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8210149" y="7879433"/>
            <a:ext cx="626827" cy="808893"/>
          </a:xfrm>
          <a:custGeom>
            <a:avLst/>
            <a:gdLst/>
            <a:ahLst/>
            <a:cxnLst/>
            <a:rect l="l" t="t" r="r" b="b"/>
            <a:pathLst>
              <a:path w="626827" h="808893">
                <a:moveTo>
                  <a:pt x="0" y="0"/>
                </a:moveTo>
                <a:lnTo>
                  <a:pt x="626828" y="0"/>
                </a:lnTo>
                <a:lnTo>
                  <a:pt x="626828" y="808894"/>
                </a:lnTo>
                <a:lnTo>
                  <a:pt x="0" y="808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1" name="Group 21"/>
          <p:cNvGrpSpPr/>
          <p:nvPr/>
        </p:nvGrpSpPr>
        <p:grpSpPr>
          <a:xfrm>
            <a:off x="9393533" y="7248078"/>
            <a:ext cx="2196534" cy="899491"/>
            <a:chOff x="0" y="0"/>
            <a:chExt cx="2928712" cy="11993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28712" cy="1199322"/>
            </a:xfrm>
            <a:custGeom>
              <a:avLst/>
              <a:gdLst/>
              <a:ahLst/>
              <a:cxnLst/>
              <a:rect l="l" t="t" r="r" b="b"/>
              <a:pathLst>
                <a:path w="2928712" h="1199322">
                  <a:moveTo>
                    <a:pt x="0" y="0"/>
                  </a:moveTo>
                  <a:lnTo>
                    <a:pt x="2928712" y="0"/>
                  </a:lnTo>
                  <a:lnTo>
                    <a:pt x="2928712" y="1199322"/>
                  </a:lnTo>
                  <a:lnTo>
                    <a:pt x="0" y="119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2391" b="-239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6606" y="347210"/>
              <a:ext cx="2175499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283">
                  <a:solidFill>
                    <a:srgbClr val="FFFFFF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아니요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30340" y="5047847"/>
            <a:ext cx="1182795" cy="1070967"/>
          </a:xfrm>
          <a:custGeom>
            <a:avLst/>
            <a:gdLst/>
            <a:ahLst/>
            <a:cxnLst/>
            <a:rect l="l" t="t" r="r" b="b"/>
            <a:pathLst>
              <a:path w="1182795" h="1070967">
                <a:moveTo>
                  <a:pt x="0" y="0"/>
                </a:moveTo>
                <a:lnTo>
                  <a:pt x="1182795" y="0"/>
                </a:lnTo>
                <a:lnTo>
                  <a:pt x="1182795" y="1070967"/>
                </a:lnTo>
                <a:lnTo>
                  <a:pt x="0" y="1070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5242991" y="5675311"/>
            <a:ext cx="744262" cy="745618"/>
          </a:xfrm>
          <a:custGeom>
            <a:avLst/>
            <a:gdLst/>
            <a:ahLst/>
            <a:cxnLst/>
            <a:rect l="l" t="t" r="r" b="b"/>
            <a:pathLst>
              <a:path w="744262" h="745618">
                <a:moveTo>
                  <a:pt x="0" y="0"/>
                </a:moveTo>
                <a:lnTo>
                  <a:pt x="744262" y="0"/>
                </a:lnTo>
                <a:lnTo>
                  <a:pt x="744262" y="745618"/>
                </a:lnTo>
                <a:lnTo>
                  <a:pt x="0" y="745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5883651" y="6581062"/>
            <a:ext cx="521356" cy="557871"/>
          </a:xfrm>
          <a:custGeom>
            <a:avLst/>
            <a:gdLst/>
            <a:ahLst/>
            <a:cxnLst/>
            <a:rect l="l" t="t" r="r" b="b"/>
            <a:pathLst>
              <a:path w="521356" h="557871">
                <a:moveTo>
                  <a:pt x="0" y="0"/>
                </a:moveTo>
                <a:lnTo>
                  <a:pt x="521356" y="0"/>
                </a:lnTo>
                <a:lnTo>
                  <a:pt x="521356" y="557871"/>
                </a:lnTo>
                <a:lnTo>
                  <a:pt x="0" y="557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4825404" y="8449963"/>
            <a:ext cx="715671" cy="754060"/>
          </a:xfrm>
          <a:custGeom>
            <a:avLst/>
            <a:gdLst/>
            <a:ahLst/>
            <a:cxnLst/>
            <a:rect l="l" t="t" r="r" b="b"/>
            <a:pathLst>
              <a:path w="715671" h="754060">
                <a:moveTo>
                  <a:pt x="0" y="0"/>
                </a:moveTo>
                <a:lnTo>
                  <a:pt x="715671" y="0"/>
                </a:lnTo>
                <a:lnTo>
                  <a:pt x="715671" y="754060"/>
                </a:lnTo>
                <a:lnTo>
                  <a:pt x="0" y="754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5047997" y="6618592"/>
            <a:ext cx="557871" cy="520342"/>
          </a:xfrm>
          <a:custGeom>
            <a:avLst/>
            <a:gdLst/>
            <a:ahLst/>
            <a:cxnLst/>
            <a:rect l="l" t="t" r="r" b="b"/>
            <a:pathLst>
              <a:path w="557871" h="520342">
                <a:moveTo>
                  <a:pt x="0" y="0"/>
                </a:moveTo>
                <a:lnTo>
                  <a:pt x="557872" y="0"/>
                </a:lnTo>
                <a:lnTo>
                  <a:pt x="557872" y="520341"/>
                </a:lnTo>
                <a:lnTo>
                  <a:pt x="0" y="520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8028966" y="7312037"/>
            <a:ext cx="853691" cy="880919"/>
          </a:xfrm>
          <a:custGeom>
            <a:avLst/>
            <a:gdLst/>
            <a:ahLst/>
            <a:cxnLst/>
            <a:rect l="l" t="t" r="r" b="b"/>
            <a:pathLst>
              <a:path w="853691" h="880919">
                <a:moveTo>
                  <a:pt x="0" y="0"/>
                </a:moveTo>
                <a:lnTo>
                  <a:pt x="853691" y="0"/>
                </a:lnTo>
                <a:lnTo>
                  <a:pt x="853691" y="880919"/>
                </a:lnTo>
                <a:lnTo>
                  <a:pt x="0" y="880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4218305" y="7349389"/>
            <a:ext cx="258489" cy="941517"/>
          </a:xfrm>
          <a:custGeom>
            <a:avLst/>
            <a:gdLst/>
            <a:ahLst/>
            <a:cxnLst/>
            <a:rect l="l" t="t" r="r" b="b"/>
            <a:pathLst>
              <a:path w="258489" h="941517">
                <a:moveTo>
                  <a:pt x="0" y="0"/>
                </a:moveTo>
                <a:lnTo>
                  <a:pt x="258489" y="0"/>
                </a:lnTo>
                <a:lnTo>
                  <a:pt x="258489" y="941516"/>
                </a:lnTo>
                <a:lnTo>
                  <a:pt x="0" y="9415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4954657" y="7349389"/>
            <a:ext cx="706993" cy="941517"/>
          </a:xfrm>
          <a:custGeom>
            <a:avLst/>
            <a:gdLst/>
            <a:ahLst/>
            <a:cxnLst/>
            <a:rect l="l" t="t" r="r" b="b"/>
            <a:pathLst>
              <a:path w="706993" h="941517">
                <a:moveTo>
                  <a:pt x="0" y="0"/>
                </a:moveTo>
                <a:lnTo>
                  <a:pt x="706993" y="0"/>
                </a:lnTo>
                <a:lnTo>
                  <a:pt x="706993" y="941516"/>
                </a:lnTo>
                <a:lnTo>
                  <a:pt x="0" y="9415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7436096" y="8430518"/>
            <a:ext cx="785641" cy="827782"/>
          </a:xfrm>
          <a:custGeom>
            <a:avLst/>
            <a:gdLst/>
            <a:ahLst/>
            <a:cxnLst/>
            <a:rect l="l" t="t" r="r" b="b"/>
            <a:pathLst>
              <a:path w="785641" h="827782">
                <a:moveTo>
                  <a:pt x="0" y="0"/>
                </a:moveTo>
                <a:lnTo>
                  <a:pt x="785641" y="0"/>
                </a:lnTo>
                <a:lnTo>
                  <a:pt x="785641" y="827782"/>
                </a:lnTo>
                <a:lnTo>
                  <a:pt x="0" y="8277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6931799" y="7312037"/>
            <a:ext cx="852089" cy="880919"/>
          </a:xfrm>
          <a:custGeom>
            <a:avLst/>
            <a:gdLst/>
            <a:ahLst/>
            <a:cxnLst/>
            <a:rect l="l" t="t" r="r" b="b"/>
            <a:pathLst>
              <a:path w="852089" h="880919">
                <a:moveTo>
                  <a:pt x="0" y="0"/>
                </a:moveTo>
                <a:lnTo>
                  <a:pt x="852089" y="0"/>
                </a:lnTo>
                <a:lnTo>
                  <a:pt x="852089" y="880919"/>
                </a:lnTo>
                <a:lnTo>
                  <a:pt x="0" y="880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6506766" y="8430518"/>
            <a:ext cx="785641" cy="827782"/>
          </a:xfrm>
          <a:custGeom>
            <a:avLst/>
            <a:gdLst/>
            <a:ahLst/>
            <a:cxnLst/>
            <a:rect l="l" t="t" r="r" b="b"/>
            <a:pathLst>
              <a:path w="785641" h="827782">
                <a:moveTo>
                  <a:pt x="0" y="0"/>
                </a:moveTo>
                <a:lnTo>
                  <a:pt x="785641" y="0"/>
                </a:lnTo>
                <a:lnTo>
                  <a:pt x="785641" y="827782"/>
                </a:lnTo>
                <a:lnTo>
                  <a:pt x="0" y="8277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6066725" y="7349389"/>
            <a:ext cx="499860" cy="941517"/>
          </a:xfrm>
          <a:custGeom>
            <a:avLst/>
            <a:gdLst/>
            <a:ahLst/>
            <a:cxnLst/>
            <a:rect l="l" t="t" r="r" b="b"/>
            <a:pathLst>
              <a:path w="499860" h="941517">
                <a:moveTo>
                  <a:pt x="0" y="0"/>
                </a:moveTo>
                <a:lnTo>
                  <a:pt x="499860" y="0"/>
                </a:lnTo>
                <a:lnTo>
                  <a:pt x="499860" y="941516"/>
                </a:lnTo>
                <a:lnTo>
                  <a:pt x="0" y="94151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4379226" y="4841252"/>
            <a:ext cx="745618" cy="745618"/>
          </a:xfrm>
          <a:custGeom>
            <a:avLst/>
            <a:gdLst/>
            <a:ahLst/>
            <a:cxnLst/>
            <a:rect l="l" t="t" r="r" b="b"/>
            <a:pathLst>
              <a:path w="745618" h="745618">
                <a:moveTo>
                  <a:pt x="0" y="0"/>
                </a:moveTo>
                <a:lnTo>
                  <a:pt x="745618" y="0"/>
                </a:lnTo>
                <a:lnTo>
                  <a:pt x="745618" y="745618"/>
                </a:lnTo>
                <a:lnTo>
                  <a:pt x="0" y="74561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6652233" y="6581062"/>
            <a:ext cx="521356" cy="557871"/>
          </a:xfrm>
          <a:custGeom>
            <a:avLst/>
            <a:gdLst/>
            <a:ahLst/>
            <a:cxnLst/>
            <a:rect l="l" t="t" r="r" b="b"/>
            <a:pathLst>
              <a:path w="521356" h="557871">
                <a:moveTo>
                  <a:pt x="0" y="0"/>
                </a:moveTo>
                <a:lnTo>
                  <a:pt x="521356" y="0"/>
                </a:lnTo>
                <a:lnTo>
                  <a:pt x="521356" y="557871"/>
                </a:lnTo>
                <a:lnTo>
                  <a:pt x="0" y="55787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5227740" y="4841252"/>
            <a:ext cx="745618" cy="745618"/>
          </a:xfrm>
          <a:custGeom>
            <a:avLst/>
            <a:gdLst/>
            <a:ahLst/>
            <a:cxnLst/>
            <a:rect l="l" t="t" r="r" b="b"/>
            <a:pathLst>
              <a:path w="745618" h="745618">
                <a:moveTo>
                  <a:pt x="0" y="0"/>
                </a:moveTo>
                <a:lnTo>
                  <a:pt x="745617" y="0"/>
                </a:lnTo>
                <a:lnTo>
                  <a:pt x="745617" y="745618"/>
                </a:lnTo>
                <a:lnTo>
                  <a:pt x="0" y="7456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/>
          <p:nvPr/>
        </p:nvSpPr>
        <p:spPr>
          <a:xfrm>
            <a:off x="5659123" y="8449662"/>
            <a:ext cx="715957" cy="754361"/>
          </a:xfrm>
          <a:custGeom>
            <a:avLst/>
            <a:gdLst/>
            <a:ahLst/>
            <a:cxnLst/>
            <a:rect l="l" t="t" r="r" b="b"/>
            <a:pathLst>
              <a:path w="715957" h="754361">
                <a:moveTo>
                  <a:pt x="0" y="0"/>
                </a:moveTo>
                <a:lnTo>
                  <a:pt x="715958" y="0"/>
                </a:lnTo>
                <a:lnTo>
                  <a:pt x="715958" y="754361"/>
                </a:lnTo>
                <a:lnTo>
                  <a:pt x="0" y="75436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4379226" y="5675311"/>
            <a:ext cx="744262" cy="745618"/>
          </a:xfrm>
          <a:custGeom>
            <a:avLst/>
            <a:gdLst/>
            <a:ahLst/>
            <a:cxnLst/>
            <a:rect l="l" t="t" r="r" b="b"/>
            <a:pathLst>
              <a:path w="744262" h="745618">
                <a:moveTo>
                  <a:pt x="0" y="0"/>
                </a:moveTo>
                <a:lnTo>
                  <a:pt x="744263" y="0"/>
                </a:lnTo>
                <a:lnTo>
                  <a:pt x="744263" y="745618"/>
                </a:lnTo>
                <a:lnTo>
                  <a:pt x="0" y="74561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/>
          <p:nvPr/>
        </p:nvSpPr>
        <p:spPr>
          <a:xfrm>
            <a:off x="7407664" y="6599827"/>
            <a:ext cx="557871" cy="520342"/>
          </a:xfrm>
          <a:custGeom>
            <a:avLst/>
            <a:gdLst/>
            <a:ahLst/>
            <a:cxnLst/>
            <a:rect l="l" t="t" r="r" b="b"/>
            <a:pathLst>
              <a:path w="557871" h="520342">
                <a:moveTo>
                  <a:pt x="0" y="0"/>
                </a:moveTo>
                <a:lnTo>
                  <a:pt x="557871" y="0"/>
                </a:lnTo>
                <a:lnTo>
                  <a:pt x="557871" y="520342"/>
                </a:lnTo>
                <a:lnTo>
                  <a:pt x="0" y="52034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Freeform 20"/>
          <p:cNvSpPr/>
          <p:nvPr/>
        </p:nvSpPr>
        <p:spPr>
          <a:xfrm>
            <a:off x="10797385" y="6461614"/>
            <a:ext cx="1297586" cy="502520"/>
          </a:xfrm>
          <a:custGeom>
            <a:avLst/>
            <a:gdLst/>
            <a:ahLst/>
            <a:cxnLst/>
            <a:rect l="l" t="t" r="r" b="b"/>
            <a:pathLst>
              <a:path w="1297586" h="502520">
                <a:moveTo>
                  <a:pt x="0" y="0"/>
                </a:moveTo>
                <a:lnTo>
                  <a:pt x="1297586" y="0"/>
                </a:lnTo>
                <a:lnTo>
                  <a:pt x="1297586" y="502520"/>
                </a:lnTo>
                <a:lnTo>
                  <a:pt x="0" y="50252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9268197" y="5752118"/>
            <a:ext cx="2835871" cy="515613"/>
          </a:xfrm>
          <a:custGeom>
            <a:avLst/>
            <a:gdLst/>
            <a:ahLst/>
            <a:cxnLst/>
            <a:rect l="l" t="t" r="r" b="b"/>
            <a:pathLst>
              <a:path w="2835871" h="515613">
                <a:moveTo>
                  <a:pt x="0" y="0"/>
                </a:moveTo>
                <a:lnTo>
                  <a:pt x="2835871" y="0"/>
                </a:lnTo>
                <a:lnTo>
                  <a:pt x="2835871" y="515613"/>
                </a:lnTo>
                <a:lnTo>
                  <a:pt x="0" y="51561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22"/>
          <p:cNvSpPr/>
          <p:nvPr/>
        </p:nvSpPr>
        <p:spPr>
          <a:xfrm>
            <a:off x="9565227" y="7264682"/>
            <a:ext cx="675845" cy="975629"/>
          </a:xfrm>
          <a:custGeom>
            <a:avLst/>
            <a:gdLst/>
            <a:ahLst/>
            <a:cxnLst/>
            <a:rect l="l" t="t" r="r" b="b"/>
            <a:pathLst>
              <a:path w="675845" h="975629">
                <a:moveTo>
                  <a:pt x="0" y="0"/>
                </a:moveTo>
                <a:lnTo>
                  <a:pt x="675845" y="0"/>
                </a:lnTo>
                <a:lnTo>
                  <a:pt x="675845" y="975629"/>
                </a:lnTo>
                <a:lnTo>
                  <a:pt x="0" y="975629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Freeform 23"/>
          <p:cNvSpPr/>
          <p:nvPr/>
        </p:nvSpPr>
        <p:spPr>
          <a:xfrm>
            <a:off x="11049502" y="7225213"/>
            <a:ext cx="1054566" cy="1054566"/>
          </a:xfrm>
          <a:custGeom>
            <a:avLst/>
            <a:gdLst/>
            <a:ahLst/>
            <a:cxnLst/>
            <a:rect l="l" t="t" r="r" b="b"/>
            <a:pathLst>
              <a:path w="1054566" h="1054566">
                <a:moveTo>
                  <a:pt x="0" y="0"/>
                </a:moveTo>
                <a:lnTo>
                  <a:pt x="1054566" y="0"/>
                </a:lnTo>
                <a:lnTo>
                  <a:pt x="1054566" y="1054566"/>
                </a:lnTo>
                <a:lnTo>
                  <a:pt x="0" y="1054566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12918738" y="7054826"/>
            <a:ext cx="1052002" cy="2009032"/>
          </a:xfrm>
          <a:custGeom>
            <a:avLst/>
            <a:gdLst/>
            <a:ahLst/>
            <a:cxnLst/>
            <a:rect l="l" t="t" r="r" b="b"/>
            <a:pathLst>
              <a:path w="1052002" h="2009032">
                <a:moveTo>
                  <a:pt x="0" y="0"/>
                </a:moveTo>
                <a:lnTo>
                  <a:pt x="1052002" y="0"/>
                </a:lnTo>
                <a:lnTo>
                  <a:pt x="1052002" y="2009032"/>
                </a:lnTo>
                <a:lnTo>
                  <a:pt x="0" y="2009032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>
            <a:off x="9268197" y="5009082"/>
            <a:ext cx="2835871" cy="515613"/>
          </a:xfrm>
          <a:custGeom>
            <a:avLst/>
            <a:gdLst/>
            <a:ahLst/>
            <a:cxnLst/>
            <a:rect l="l" t="t" r="r" b="b"/>
            <a:pathLst>
              <a:path w="2835871" h="515613">
                <a:moveTo>
                  <a:pt x="0" y="0"/>
                </a:moveTo>
                <a:lnTo>
                  <a:pt x="2835871" y="0"/>
                </a:lnTo>
                <a:lnTo>
                  <a:pt x="2835871" y="515613"/>
                </a:lnTo>
                <a:lnTo>
                  <a:pt x="0" y="515613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Freeform 26"/>
          <p:cNvSpPr/>
          <p:nvPr/>
        </p:nvSpPr>
        <p:spPr>
          <a:xfrm>
            <a:off x="12819784" y="4971939"/>
            <a:ext cx="1232354" cy="526551"/>
          </a:xfrm>
          <a:custGeom>
            <a:avLst/>
            <a:gdLst/>
            <a:ahLst/>
            <a:cxnLst/>
            <a:rect l="l" t="t" r="r" b="b"/>
            <a:pathLst>
              <a:path w="1232354" h="526551">
                <a:moveTo>
                  <a:pt x="0" y="0"/>
                </a:moveTo>
                <a:lnTo>
                  <a:pt x="1232354" y="0"/>
                </a:lnTo>
                <a:lnTo>
                  <a:pt x="1232354" y="526551"/>
                </a:lnTo>
                <a:lnTo>
                  <a:pt x="0" y="526551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12819784" y="5558108"/>
            <a:ext cx="1232354" cy="528792"/>
          </a:xfrm>
          <a:custGeom>
            <a:avLst/>
            <a:gdLst/>
            <a:ahLst/>
            <a:cxnLst/>
            <a:rect l="l" t="t" r="r" b="b"/>
            <a:pathLst>
              <a:path w="1232354" h="528792">
                <a:moveTo>
                  <a:pt x="0" y="0"/>
                </a:moveTo>
                <a:lnTo>
                  <a:pt x="1232354" y="0"/>
                </a:lnTo>
                <a:lnTo>
                  <a:pt x="1232354" y="528792"/>
                </a:lnTo>
                <a:lnTo>
                  <a:pt x="0" y="528792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12862493" y="6177486"/>
            <a:ext cx="1207202" cy="498245"/>
          </a:xfrm>
          <a:custGeom>
            <a:avLst/>
            <a:gdLst/>
            <a:ahLst/>
            <a:cxnLst/>
            <a:rect l="l" t="t" r="r" b="b"/>
            <a:pathLst>
              <a:path w="1207202" h="498245">
                <a:moveTo>
                  <a:pt x="0" y="0"/>
                </a:moveTo>
                <a:lnTo>
                  <a:pt x="1207202" y="0"/>
                </a:lnTo>
                <a:lnTo>
                  <a:pt x="1207202" y="498245"/>
                </a:lnTo>
                <a:lnTo>
                  <a:pt x="0" y="498245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6272337" y="5147147"/>
            <a:ext cx="1254499" cy="971667"/>
          </a:xfrm>
          <a:custGeom>
            <a:avLst/>
            <a:gdLst/>
            <a:ahLst/>
            <a:cxnLst/>
            <a:rect l="l" t="t" r="r" b="b"/>
            <a:pathLst>
              <a:path w="1254499" h="971667">
                <a:moveTo>
                  <a:pt x="0" y="0"/>
                </a:moveTo>
                <a:lnTo>
                  <a:pt x="1254499" y="0"/>
                </a:lnTo>
                <a:lnTo>
                  <a:pt x="1254499" y="971667"/>
                </a:lnTo>
                <a:lnTo>
                  <a:pt x="0" y="971667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9565227" y="6420929"/>
            <a:ext cx="980667" cy="764920"/>
          </a:xfrm>
          <a:custGeom>
            <a:avLst/>
            <a:gdLst/>
            <a:ahLst/>
            <a:cxnLst/>
            <a:rect l="l" t="t" r="r" b="b"/>
            <a:pathLst>
              <a:path w="980667" h="764920">
                <a:moveTo>
                  <a:pt x="0" y="0"/>
                </a:moveTo>
                <a:lnTo>
                  <a:pt x="980667" y="0"/>
                </a:lnTo>
                <a:lnTo>
                  <a:pt x="980667" y="764920"/>
                </a:lnTo>
                <a:lnTo>
                  <a:pt x="0" y="76492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Freeform 31"/>
          <p:cNvSpPr/>
          <p:nvPr/>
        </p:nvSpPr>
        <p:spPr>
          <a:xfrm>
            <a:off x="8813135" y="8534139"/>
            <a:ext cx="3768652" cy="623541"/>
          </a:xfrm>
          <a:custGeom>
            <a:avLst/>
            <a:gdLst/>
            <a:ahLst/>
            <a:cxnLst/>
            <a:rect l="l" t="t" r="r" b="b"/>
            <a:pathLst>
              <a:path w="3768652" h="623541">
                <a:moveTo>
                  <a:pt x="0" y="0"/>
                </a:moveTo>
                <a:lnTo>
                  <a:pt x="3768652" y="0"/>
                </a:lnTo>
                <a:lnTo>
                  <a:pt x="3768652" y="623541"/>
                </a:lnTo>
                <a:lnTo>
                  <a:pt x="0" y="623541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2" name="Group 32"/>
          <p:cNvGrpSpPr/>
          <p:nvPr/>
        </p:nvGrpSpPr>
        <p:grpSpPr>
          <a:xfrm>
            <a:off x="1788142" y="929596"/>
            <a:ext cx="14711716" cy="3489297"/>
            <a:chOff x="0" y="0"/>
            <a:chExt cx="19615621" cy="4652396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9525"/>
              <a:ext cx="19615621" cy="389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19"/>
                </a:lnSpc>
              </a:pPr>
              <a:r>
                <a:rPr lang="en-US" sz="9600">
                  <a:solidFill>
                    <a:srgbClr val="1E60D1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게임</a:t>
              </a:r>
            </a:p>
            <a:p>
              <a:pPr algn="ctr">
                <a:lnSpc>
                  <a:spcPts val="11519"/>
                </a:lnSpc>
              </a:pPr>
              <a:r>
                <a:rPr lang="en-US" sz="9600">
                  <a:solidFill>
                    <a:srgbClr val="1E60D1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리소스 페이지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58795" y="4134236"/>
              <a:ext cx="969803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191919"/>
                  </a:solidFill>
                  <a:latin typeface="210 8비트 Bold"/>
                  <a:ea typeface="210 8비트 Bold"/>
                  <a:cs typeface="210 8비트 Bold"/>
                  <a:sym typeface="210 8비트 Bold"/>
                </a:rPr>
                <a:t>다음 아이콘을 게임에서 사용하세요. 즐기세요!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832</Words>
  <Application>Microsoft Office PowerPoint</Application>
  <PresentationFormat>사용자 지정</PresentationFormat>
  <Paragraphs>205</Paragraphs>
  <Slides>34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210 8비트 Bold</vt:lpstr>
      <vt:lpstr>210 8비트</vt:lpstr>
      <vt:lpstr>Calibri</vt:lpstr>
      <vt:lpstr>Arita Dotum Medium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컬러풀한 디지털리즘 체스 재미있는 프레젠테이션</dc:title>
  <dc:creator>Minyeong Kim</dc:creator>
  <cp:lastModifiedBy>김민영</cp:lastModifiedBy>
  <cp:revision>8</cp:revision>
  <dcterms:created xsi:type="dcterms:W3CDTF">2006-08-16T00:00:00Z</dcterms:created>
  <dcterms:modified xsi:type="dcterms:W3CDTF">2025-12-10T09:00:11Z</dcterms:modified>
  <dc:identifier>DAG7FMVjywk</dc:identifier>
</cp:coreProperties>
</file>